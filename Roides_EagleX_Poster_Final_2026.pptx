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56" r:id="rId5"/>
  </p:sldIdLst>
  <p:sldSz cx="43891200" cy="32918400"/>
  <p:notesSz cx="7023100" cy="9309100"/>
  <p:defaultTex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8050"/>
    <a:srgbClr val="0048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DB0A41-E47E-4B96-8F87-A0CA105407BF}" v="11" dt="2026-04-23T17:52:02.5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7471" autoAdjust="0"/>
    <p:restoredTop sz="95020" autoAdjust="0"/>
  </p:normalViewPr>
  <p:slideViewPr>
    <p:cSldViewPr>
      <p:cViewPr>
        <p:scale>
          <a:sx n="10" d="100"/>
          <a:sy n="10" d="100"/>
        </p:scale>
        <p:origin x="1853" y="106"/>
      </p:cViewPr>
      <p:guideLst>
        <p:guide orient="horz" pos="10368"/>
        <p:guide pos="13824"/>
      </p:guideLst>
    </p:cSldViewPr>
  </p:slideViewPr>
  <p:notesTextViewPr>
    <p:cViewPr>
      <p:scale>
        <a:sx n="50" d="100"/>
        <a:sy n="5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ke Roides" userId="cb45698cde3905e1" providerId="LiveId" clId="{3B694293-91BC-4BFA-8116-1BBB9EC13676}"/>
    <pc:docChg chg="undo redo custSel modSld">
      <pc:chgData name="Luke Roides" userId="cb45698cde3905e1" providerId="LiveId" clId="{3B694293-91BC-4BFA-8116-1BBB9EC13676}" dt="2026-04-23T17:52:06.100" v="258" actId="1076"/>
      <pc:docMkLst>
        <pc:docMk/>
      </pc:docMkLst>
      <pc:sldChg chg="addSp delSp modSp mod">
        <pc:chgData name="Luke Roides" userId="cb45698cde3905e1" providerId="LiveId" clId="{3B694293-91BC-4BFA-8116-1BBB9EC13676}" dt="2026-04-23T17:52:06.100" v="258" actId="1076"/>
        <pc:sldMkLst>
          <pc:docMk/>
          <pc:sldMk cId="0" sldId="256"/>
        </pc:sldMkLst>
        <pc:spChg chg="mod">
          <ac:chgData name="Luke Roides" userId="cb45698cde3905e1" providerId="LiveId" clId="{3B694293-91BC-4BFA-8116-1BBB9EC13676}" dt="2026-04-15T00:44:04.600" v="64" actId="113"/>
          <ac:spMkLst>
            <pc:docMk/>
            <pc:sldMk cId="0" sldId="256"/>
            <ac:spMk id="5" creationId="{C3B984B5-A75D-43A5-A04E-4820F35C7612}"/>
          </ac:spMkLst>
        </pc:spChg>
        <pc:spChg chg="mod ord">
          <ac:chgData name="Luke Roides" userId="cb45698cde3905e1" providerId="LiveId" clId="{3B694293-91BC-4BFA-8116-1BBB9EC13676}" dt="2026-04-15T01:09:21.023" v="247" actId="14100"/>
          <ac:spMkLst>
            <pc:docMk/>
            <pc:sldMk cId="0" sldId="256"/>
            <ac:spMk id="12" creationId="{182DF90C-DDBD-38F9-858E-B9ABDE65833E}"/>
          </ac:spMkLst>
        </pc:spChg>
        <pc:spChg chg="mod">
          <ac:chgData name="Luke Roides" userId="cb45698cde3905e1" providerId="LiveId" clId="{3B694293-91BC-4BFA-8116-1BBB9EC13676}" dt="2026-04-15T00:44:06.977" v="65" actId="113"/>
          <ac:spMkLst>
            <pc:docMk/>
            <pc:sldMk cId="0" sldId="256"/>
            <ac:spMk id="14" creationId="{28E71DE9-7510-940E-A2D1-80FB3D21BF1B}"/>
          </ac:spMkLst>
        </pc:spChg>
        <pc:spChg chg="mod">
          <ac:chgData name="Luke Roides" userId="cb45698cde3905e1" providerId="LiveId" clId="{3B694293-91BC-4BFA-8116-1BBB9EC13676}" dt="2026-04-15T01:00:56.068" v="217" actId="207"/>
          <ac:spMkLst>
            <pc:docMk/>
            <pc:sldMk cId="0" sldId="256"/>
            <ac:spMk id="15" creationId="{71A00F82-4A69-16B7-B4F2-3DA7D78082CE}"/>
          </ac:spMkLst>
        </pc:spChg>
        <pc:spChg chg="mod">
          <ac:chgData name="Luke Roides" userId="cb45698cde3905e1" providerId="LiveId" clId="{3B694293-91BC-4BFA-8116-1BBB9EC13676}" dt="2026-04-15T00:44:08.738" v="66" actId="113"/>
          <ac:spMkLst>
            <pc:docMk/>
            <pc:sldMk cId="0" sldId="256"/>
            <ac:spMk id="16" creationId="{C4C0D881-954B-EF7C-F17A-3E6501110D52}"/>
          </ac:spMkLst>
        </pc:spChg>
        <pc:spChg chg="mod">
          <ac:chgData name="Luke Roides" userId="cb45698cde3905e1" providerId="LiveId" clId="{3B694293-91BC-4BFA-8116-1BBB9EC13676}" dt="2026-04-15T01:04:40.961" v="236" actId="1038"/>
          <ac:spMkLst>
            <pc:docMk/>
            <pc:sldMk cId="0" sldId="256"/>
            <ac:spMk id="17" creationId="{14F609AE-D31E-C8DF-2E68-13018FAF91DA}"/>
          </ac:spMkLst>
        </pc:spChg>
        <pc:spChg chg="mod">
          <ac:chgData name="Luke Roides" userId="cb45698cde3905e1" providerId="LiveId" clId="{3B694293-91BC-4BFA-8116-1BBB9EC13676}" dt="2026-04-15T00:44:10.415" v="67" actId="113"/>
          <ac:spMkLst>
            <pc:docMk/>
            <pc:sldMk cId="0" sldId="256"/>
            <ac:spMk id="19" creationId="{39A8C115-836D-A5EC-9831-E2DE4406AAA5}"/>
          </ac:spMkLst>
        </pc:spChg>
        <pc:spChg chg="add mod ord">
          <ac:chgData name="Luke Roides" userId="cb45698cde3905e1" providerId="LiveId" clId="{3B694293-91BC-4BFA-8116-1BBB9EC13676}" dt="2026-04-15T00:54:19.983" v="193" actId="167"/>
          <ac:spMkLst>
            <pc:docMk/>
            <pc:sldMk cId="0" sldId="256"/>
            <ac:spMk id="27" creationId="{8A98E661-1FDA-E45A-89F0-0BE59CD3A058}"/>
          </ac:spMkLst>
        </pc:spChg>
        <pc:spChg chg="mod">
          <ac:chgData name="Luke Roides" userId="cb45698cde3905e1" providerId="LiveId" clId="{3B694293-91BC-4BFA-8116-1BBB9EC13676}" dt="2026-04-14T21:19:27.942" v="32" actId="1035"/>
          <ac:spMkLst>
            <pc:docMk/>
            <pc:sldMk cId="0" sldId="256"/>
            <ac:spMk id="32" creationId="{38256382-2E24-A72D-BAF5-C5614B3C5F4E}"/>
          </ac:spMkLst>
        </pc:spChg>
        <pc:spChg chg="mod">
          <ac:chgData name="Luke Roides" userId="cb45698cde3905e1" providerId="LiveId" clId="{3B694293-91BC-4BFA-8116-1BBB9EC13676}" dt="2026-04-15T01:09:51.879" v="254" actId="1038"/>
          <ac:spMkLst>
            <pc:docMk/>
            <pc:sldMk cId="0" sldId="256"/>
            <ac:spMk id="39" creationId="{5E91C34B-344C-8F8E-AEB7-11E776F967D7}"/>
          </ac:spMkLst>
        </pc:spChg>
        <pc:spChg chg="mod ord">
          <ac:chgData name="Luke Roides" userId="cb45698cde3905e1" providerId="LiveId" clId="{3B694293-91BC-4BFA-8116-1BBB9EC13676}" dt="2026-04-15T00:54:24.889" v="194" actId="167"/>
          <ac:spMkLst>
            <pc:docMk/>
            <pc:sldMk cId="0" sldId="256"/>
            <ac:spMk id="50" creationId="{5995F80D-19C3-B00C-D34F-C9B697784E33}"/>
          </ac:spMkLst>
        </pc:spChg>
        <pc:spChg chg="mod">
          <ac:chgData name="Luke Roides" userId="cb45698cde3905e1" providerId="LiveId" clId="{3B694293-91BC-4BFA-8116-1BBB9EC13676}" dt="2026-04-15T01:06:51.467" v="245" actId="1037"/>
          <ac:spMkLst>
            <pc:docMk/>
            <pc:sldMk cId="0" sldId="256"/>
            <ac:spMk id="55" creationId="{A0D92B1D-7DB2-F1DC-8E16-936956D5C587}"/>
          </ac:spMkLst>
        </pc:spChg>
        <pc:spChg chg="mod">
          <ac:chgData name="Luke Roides" userId="cb45698cde3905e1" providerId="LiveId" clId="{3B694293-91BC-4BFA-8116-1BBB9EC13676}" dt="2026-04-15T00:56:34.471" v="200" actId="1076"/>
          <ac:spMkLst>
            <pc:docMk/>
            <pc:sldMk cId="0" sldId="256"/>
            <ac:spMk id="59" creationId="{D30C3D69-19F6-BBBE-DFCD-4BF568C27630}"/>
          </ac:spMkLst>
        </pc:spChg>
        <pc:spChg chg="mod">
          <ac:chgData name="Luke Roides" userId="cb45698cde3905e1" providerId="LiveId" clId="{3B694293-91BC-4BFA-8116-1BBB9EC13676}" dt="2026-04-15T00:59:48.009" v="215" actId="20577"/>
          <ac:spMkLst>
            <pc:docMk/>
            <pc:sldMk cId="0" sldId="256"/>
            <ac:spMk id="63" creationId="{456C6C45-E0FA-1F1E-7484-CF1AA107D29D}"/>
          </ac:spMkLst>
        </pc:spChg>
        <pc:spChg chg="mod">
          <ac:chgData name="Luke Roides" userId="cb45698cde3905e1" providerId="LiveId" clId="{3B694293-91BC-4BFA-8116-1BBB9EC13676}" dt="2026-04-15T00:52:25.089" v="178" actId="1076"/>
          <ac:spMkLst>
            <pc:docMk/>
            <pc:sldMk cId="0" sldId="256"/>
            <ac:spMk id="1030" creationId="{C0CABF0B-601D-E499-905D-C42038CA61F3}"/>
          </ac:spMkLst>
        </pc:spChg>
        <pc:spChg chg="mod">
          <ac:chgData name="Luke Roides" userId="cb45698cde3905e1" providerId="LiveId" clId="{3B694293-91BC-4BFA-8116-1BBB9EC13676}" dt="2026-04-15T00:55:06.129" v="197" actId="1076"/>
          <ac:spMkLst>
            <pc:docMk/>
            <pc:sldMk cId="0" sldId="256"/>
            <ac:spMk id="1033" creationId="{A22453F3-B04C-3C4D-55B9-BB9061D2B28E}"/>
          </ac:spMkLst>
        </pc:spChg>
        <pc:spChg chg="mod">
          <ac:chgData name="Luke Roides" userId="cb45698cde3905e1" providerId="LiveId" clId="{3B694293-91BC-4BFA-8116-1BBB9EC13676}" dt="2026-04-15T01:05:52.857" v="237" actId="113"/>
          <ac:spMkLst>
            <pc:docMk/>
            <pc:sldMk cId="0" sldId="256"/>
            <ac:spMk id="1049" creationId="{5467E115-8EFE-FC9B-867B-1A20E23BB4AC}"/>
          </ac:spMkLst>
        </pc:spChg>
        <pc:spChg chg="mod ord">
          <ac:chgData name="Luke Roides" userId="cb45698cde3905e1" providerId="LiveId" clId="{3B694293-91BC-4BFA-8116-1BBB9EC13676}" dt="2026-04-15T00:54:55.390" v="195" actId="1076"/>
          <ac:spMkLst>
            <pc:docMk/>
            <pc:sldMk cId="0" sldId="256"/>
            <ac:spMk id="1062" creationId="{A910E800-710B-99DD-6FD0-0F226F98B9F7}"/>
          </ac:spMkLst>
        </pc:spChg>
        <pc:picChg chg="add mod">
          <ac:chgData name="Luke Roides" userId="cb45698cde3905e1" providerId="LiveId" clId="{3B694293-91BC-4BFA-8116-1BBB9EC13676}" dt="2026-04-23T17:52:02.569" v="256" actId="571"/>
          <ac:picMkLst>
            <pc:docMk/>
            <pc:sldMk cId="0" sldId="256"/>
            <ac:picMk id="3" creationId="{5312835A-2152-31F0-8D01-CBBE02AD2F4B}"/>
          </ac:picMkLst>
        </pc:picChg>
        <pc:picChg chg="add del mod">
          <ac:chgData name="Luke Roides" userId="cb45698cde3905e1" providerId="LiveId" clId="{3B694293-91BC-4BFA-8116-1BBB9EC13676}" dt="2026-04-15T01:04:35.764" v="229" actId="1036"/>
          <ac:picMkLst>
            <pc:docMk/>
            <pc:sldMk cId="0" sldId="256"/>
            <ac:picMk id="7" creationId="{DE7CD71F-406B-4AF0-A117-C9CDE4CF1D38}"/>
          </ac:picMkLst>
        </pc:picChg>
        <pc:picChg chg="add mod">
          <ac:chgData name="Luke Roides" userId="cb45698cde3905e1" providerId="LiveId" clId="{3B694293-91BC-4BFA-8116-1BBB9EC13676}" dt="2026-04-23T17:52:02.569" v="256" actId="571"/>
          <ac:picMkLst>
            <pc:docMk/>
            <pc:sldMk cId="0" sldId="256"/>
            <ac:picMk id="13" creationId="{C4EB7834-CAFD-D277-104B-9FE2F21E5EC0}"/>
          </ac:picMkLst>
        </pc:picChg>
        <pc:picChg chg="mod">
          <ac:chgData name="Luke Roides" userId="cb45698cde3905e1" providerId="LiveId" clId="{3B694293-91BC-4BFA-8116-1BBB9EC13676}" dt="2026-04-23T17:52:06.100" v="258" actId="1076"/>
          <ac:picMkLst>
            <pc:docMk/>
            <pc:sldMk cId="0" sldId="256"/>
            <ac:picMk id="29" creationId="{3DC02A8D-A5B1-8105-11B0-F5F8CC64FBAF}"/>
          </ac:picMkLst>
        </pc:picChg>
        <pc:picChg chg="mod">
          <ac:chgData name="Luke Roides" userId="cb45698cde3905e1" providerId="LiveId" clId="{3B694293-91BC-4BFA-8116-1BBB9EC13676}" dt="2026-04-15T00:38:45.985" v="35" actId="14100"/>
          <ac:picMkLst>
            <pc:docMk/>
            <pc:sldMk cId="0" sldId="256"/>
            <ac:picMk id="36" creationId="{8AE0C9F7-7509-ED9A-4F0B-6239FC3A717E}"/>
          </ac:picMkLst>
        </pc:picChg>
        <pc:picChg chg="mod ord">
          <ac:chgData name="Luke Roides" userId="cb45698cde3905e1" providerId="LiveId" clId="{3B694293-91BC-4BFA-8116-1BBB9EC13676}" dt="2026-04-15T00:53:43.751" v="187" actId="1076"/>
          <ac:picMkLst>
            <pc:docMk/>
            <pc:sldMk cId="0" sldId="256"/>
            <ac:picMk id="1025" creationId="{3B4D3369-FDB5-1D7F-0283-F093E83A4A98}"/>
          </ac:picMkLst>
        </pc:picChg>
        <pc:picChg chg="mod">
          <ac:chgData name="Luke Roides" userId="cb45698cde3905e1" providerId="LiveId" clId="{3B694293-91BC-4BFA-8116-1BBB9EC13676}" dt="2026-04-15T01:09:49.229" v="253" actId="1038"/>
          <ac:picMkLst>
            <pc:docMk/>
            <pc:sldMk cId="0" sldId="256"/>
            <ac:picMk id="1026" creationId="{CC0552DB-20DC-00DD-3898-00C1377EF641}"/>
          </ac:picMkLst>
        </pc:picChg>
        <pc:picChg chg="mod">
          <ac:chgData name="Luke Roides" userId="cb45698cde3905e1" providerId="LiveId" clId="{3B694293-91BC-4BFA-8116-1BBB9EC13676}" dt="2026-04-15T01:09:45.999" v="251" actId="1035"/>
          <ac:picMkLst>
            <pc:docMk/>
            <pc:sldMk cId="0" sldId="256"/>
            <ac:picMk id="1028" creationId="{A23DFA91-E04A-1D3F-20F3-A6179C2F6DD0}"/>
          </ac:picMkLst>
        </pc:picChg>
        <pc:picChg chg="mod">
          <ac:chgData name="Luke Roides" userId="cb45698cde3905e1" providerId="LiveId" clId="{3B694293-91BC-4BFA-8116-1BBB9EC13676}" dt="2026-04-15T00:38:40.865" v="34" actId="14100"/>
          <ac:picMkLst>
            <pc:docMk/>
            <pc:sldMk cId="0" sldId="256"/>
            <ac:picMk id="1075" creationId="{D19E92E9-71B5-B1E0-7CA8-EA9F897E9A1F}"/>
          </ac:picMkLst>
        </pc:picChg>
        <pc:picChg chg="mod">
          <ac:chgData name="Luke Roides" userId="cb45698cde3905e1" providerId="LiveId" clId="{3B694293-91BC-4BFA-8116-1BBB9EC13676}" dt="2026-04-23T17:52:04.891" v="257" actId="1076"/>
          <ac:picMkLst>
            <pc:docMk/>
            <pc:sldMk cId="0" sldId="256"/>
            <ac:picMk id="1117" creationId="{BDAD4A88-D9D6-893E-3BEA-69D24D046F7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24" tIns="46662" rIns="93324" bIns="46662" rtlCol="0"/>
          <a:lstStyle>
            <a:lvl1pPr algn="l">
              <a:defRPr sz="1200"/>
            </a:lvl1pPr>
          </a:lstStyle>
          <a:p>
            <a:endParaRPr lang="en-US" dirty="0"/>
          </a:p>
        </p:txBody>
      </p:sp>
      <p:sp>
        <p:nvSpPr>
          <p:cNvPr id="3" name="Date Placeholder 2"/>
          <p:cNvSpPr>
            <a:spLocks noGrp="1"/>
          </p:cNvSpPr>
          <p:nvPr>
            <p:ph type="dt" idx="1"/>
          </p:nvPr>
        </p:nvSpPr>
        <p:spPr>
          <a:xfrm>
            <a:off x="3978132" y="0"/>
            <a:ext cx="3043343" cy="467072"/>
          </a:xfrm>
          <a:prstGeom prst="rect">
            <a:avLst/>
          </a:prstGeom>
        </p:spPr>
        <p:txBody>
          <a:bodyPr vert="horz" lIns="93324" tIns="46662" rIns="93324" bIns="46662" rtlCol="0"/>
          <a:lstStyle>
            <a:lvl1pPr algn="r">
              <a:defRPr sz="1200"/>
            </a:lvl1pPr>
          </a:lstStyle>
          <a:p>
            <a:fld id="{7ADBC2B1-5D13-4E77-8E54-E88FC7E336FE}" type="datetimeFigureOut">
              <a:rPr lang="en-US" smtClean="0"/>
              <a:t>4/23/2026</a:t>
            </a:fld>
            <a:endParaRPr lang="en-US" dirty="0"/>
          </a:p>
        </p:txBody>
      </p:sp>
      <p:sp>
        <p:nvSpPr>
          <p:cNvPr id="4" name="Slide Image Placeholder 3"/>
          <p:cNvSpPr>
            <a:spLocks noGrp="1" noRot="1" noChangeAspect="1"/>
          </p:cNvSpPr>
          <p:nvPr>
            <p:ph type="sldImg" idx="2"/>
          </p:nvPr>
        </p:nvSpPr>
        <p:spPr>
          <a:xfrm>
            <a:off x="1417638" y="1163638"/>
            <a:ext cx="4187825" cy="3141662"/>
          </a:xfrm>
          <a:prstGeom prst="rect">
            <a:avLst/>
          </a:prstGeom>
          <a:noFill/>
          <a:ln w="12700">
            <a:solidFill>
              <a:prstClr val="black"/>
            </a:solidFill>
          </a:ln>
        </p:spPr>
        <p:txBody>
          <a:bodyPr vert="horz" lIns="93324" tIns="46662" rIns="93324" bIns="46662" rtlCol="0" anchor="ctr"/>
          <a:lstStyle/>
          <a:p>
            <a:endParaRPr lang="en-US" dirty="0"/>
          </a:p>
        </p:txBody>
      </p:sp>
      <p:sp>
        <p:nvSpPr>
          <p:cNvPr id="5" name="Notes Placeholder 4"/>
          <p:cNvSpPr>
            <a:spLocks noGrp="1"/>
          </p:cNvSpPr>
          <p:nvPr>
            <p:ph type="body" sz="quarter" idx="3"/>
          </p:nvPr>
        </p:nvSpPr>
        <p:spPr>
          <a:xfrm>
            <a:off x="702310" y="4480004"/>
            <a:ext cx="5618480" cy="3665458"/>
          </a:xfrm>
          <a:prstGeom prst="rect">
            <a:avLst/>
          </a:prstGeom>
        </p:spPr>
        <p:txBody>
          <a:bodyPr vert="horz" lIns="93324" tIns="46662" rIns="93324" bIns="4666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43343" cy="467071"/>
          </a:xfrm>
          <a:prstGeom prst="rect">
            <a:avLst/>
          </a:prstGeom>
        </p:spPr>
        <p:txBody>
          <a:bodyPr vert="horz" lIns="93324" tIns="46662" rIns="93324" bIns="46662"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2" y="8842030"/>
            <a:ext cx="3043343" cy="467071"/>
          </a:xfrm>
          <a:prstGeom prst="rect">
            <a:avLst/>
          </a:prstGeom>
        </p:spPr>
        <p:txBody>
          <a:bodyPr vert="horz" lIns="93324" tIns="46662" rIns="93324" bIns="46662" rtlCol="0" anchor="b"/>
          <a:lstStyle>
            <a:lvl1pPr algn="r">
              <a:defRPr sz="1200"/>
            </a:lvl1pPr>
          </a:lstStyle>
          <a:p>
            <a:fld id="{3874AFBE-D13E-4785-926C-07545AB40E90}" type="slidenum">
              <a:rPr lang="en-US" smtClean="0"/>
              <a:t>‹#›</a:t>
            </a:fld>
            <a:endParaRPr lang="en-US" dirty="0"/>
          </a:p>
        </p:txBody>
      </p:sp>
    </p:spTree>
    <p:extLst>
      <p:ext uri="{BB962C8B-B14F-4D97-AF65-F5344CB8AC3E}">
        <p14:creationId xmlns:p14="http://schemas.microsoft.com/office/powerpoint/2010/main" val="3380832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457200" indent="-457200">
              <a:buFont typeface="Arial" panose="020B0604020202020204" pitchFamily="34" charset="0"/>
              <a:buChar char="•"/>
            </a:pPr>
            <a:r>
              <a:rPr lang="en-US" sz="1200" dirty="0">
                <a:latin typeface="Gill Sans Nova" panose="020B0602020104020203" pitchFamily="34" charset="0"/>
              </a:rPr>
              <a:t>Advection</a:t>
            </a:r>
          </a:p>
          <a:p>
            <a:pPr marL="457200" indent="-457200">
              <a:buFont typeface="Arial" panose="020B0604020202020204" pitchFamily="34" charset="0"/>
              <a:buChar char="•"/>
            </a:pPr>
            <a:r>
              <a:rPr lang="en-US" sz="1200" dirty="0">
                <a:latin typeface="Gill Sans Nova" panose="020B0602020104020203" pitchFamily="34" charset="0"/>
              </a:rPr>
              <a:t>Dispersion</a:t>
            </a:r>
          </a:p>
          <a:p>
            <a:pPr marL="457200" indent="-457200">
              <a:buFont typeface="Arial" panose="020B0604020202020204" pitchFamily="34" charset="0"/>
              <a:buChar char="•"/>
            </a:pPr>
            <a:r>
              <a:rPr lang="en-US" sz="1200" dirty="0">
                <a:latin typeface="Gill Sans Nova" panose="020B0602020104020203" pitchFamily="34" charset="0"/>
              </a:rPr>
              <a:t>Dilution</a:t>
            </a:r>
          </a:p>
          <a:p>
            <a:pPr marL="457200" indent="-457200">
              <a:buFont typeface="Arial" panose="020B0604020202020204" pitchFamily="34" charset="0"/>
              <a:buChar char="•"/>
            </a:pPr>
            <a:r>
              <a:rPr lang="en-US" sz="1200" dirty="0">
                <a:latin typeface="Gill Sans Nova" panose="020B0602020104020203" pitchFamily="34" charset="0"/>
              </a:rPr>
              <a:t>Minimal vadose zone assumed with legacy systems</a:t>
            </a:r>
          </a:p>
          <a:p>
            <a:endParaRPr lang="en-US" dirty="0"/>
          </a:p>
          <a:p>
            <a:r>
              <a:rPr lang="en-US" sz="1200" dirty="0">
                <a:solidFill>
                  <a:schemeClr val="tx2"/>
                </a:solidFill>
              </a:rPr>
              <a:t>Abstract</a:t>
            </a:r>
          </a:p>
          <a:p>
            <a:r>
              <a:rPr lang="en-US" sz="1200" dirty="0"/>
              <a:t>Lee County has experienced urbanization dating back to the 1950s. Residential construction at the time had little to no regard for the future of what Lee County was going to become. Many of the wastewater treatment systems that were constructed for residential properties, known as septic systems, were installed with little to no regulatory enforcement or environmental considerations. Many of these systems are still in use today. A high number of these septic systems cannot meet the treatment requirements of today’s standards and lack separation from the ground water table. These old septic systems are directly contaminating groundwaters and excess runoff can impact nearby surface waters. Harmful pollutants found in human wastewater, like nitrogen, can cause several environmental and public health impacts. The study objective is to project the reduction of these pollutants from replacing outdated septic systems with new advanced treatment unit septic systems known as aerobic treatment units (ATUs). </a:t>
            </a:r>
            <a:endParaRPr lang="en-US" sz="1200" dirty="0">
              <a:solidFill>
                <a:schemeClr val="tx2"/>
              </a:solidFill>
            </a:endParaRPr>
          </a:p>
          <a:p>
            <a:endParaRPr lang="en-US" dirty="0"/>
          </a:p>
          <a:p>
            <a:endParaRPr lang="en-US" dirty="0"/>
          </a:p>
          <a:p>
            <a:pPr>
              <a:buNone/>
            </a:pPr>
            <a:r>
              <a:rPr lang="en-US" sz="1200" dirty="0">
                <a:solidFill>
                  <a:srgbClr val="0E101A"/>
                </a:solidFill>
                <a:latin typeface="Gill Sans Nova" panose="020B0602020104020203" pitchFamily="34" charset="0"/>
              </a:rPr>
              <a:t>Approximately 30% of Florida's population rely on septic systems as their form of wastewater treatment with more than 2.6 million systems in use.</a:t>
            </a:r>
          </a:p>
          <a:p>
            <a:pPr marL="457200" indent="-457200">
              <a:buFont typeface="Arial" panose="020B0604020202020204" pitchFamily="34" charset="0"/>
              <a:buChar char="•"/>
            </a:pPr>
            <a:r>
              <a:rPr lang="en-US" sz="1200" dirty="0">
                <a:solidFill>
                  <a:srgbClr val="0E101A"/>
                </a:solidFill>
                <a:effectLst/>
                <a:latin typeface="Gill Sans Nova" panose="020B0602020104020203" pitchFamily="34" charset="0"/>
              </a:rPr>
              <a:t>Septic Systems contribute nitrogen to groundwater</a:t>
            </a:r>
          </a:p>
          <a:p>
            <a:pPr marL="457200" indent="-457200">
              <a:buFont typeface="Arial" panose="020B0604020202020204" pitchFamily="34" charset="0"/>
              <a:buChar char="•"/>
            </a:pPr>
            <a:r>
              <a:rPr lang="en-US" sz="1200" dirty="0">
                <a:solidFill>
                  <a:srgbClr val="0E101A"/>
                </a:solidFill>
                <a:latin typeface="Gill Sans Nova" panose="020B0602020104020203" pitchFamily="34" charset="0"/>
              </a:rPr>
              <a:t>Aerobic Treatment Units (ATUs) reduce nitrogen in wastewater effluent prior to discharging into the ground.</a:t>
            </a:r>
            <a:endParaRPr lang="en-US" sz="1200" dirty="0">
              <a:solidFill>
                <a:srgbClr val="0E101A"/>
              </a:solidFill>
              <a:effectLst/>
              <a:latin typeface="Gill Sans Nova" panose="020B0602020104020203" pitchFamily="34" charset="0"/>
            </a:endParaRPr>
          </a:p>
          <a:p>
            <a:pPr marL="457200" indent="-457200">
              <a:buFont typeface="Arial" panose="020B0604020202020204" pitchFamily="34" charset="0"/>
              <a:buChar char="•"/>
            </a:pPr>
            <a:r>
              <a:rPr lang="en-US" sz="1200" dirty="0">
                <a:solidFill>
                  <a:srgbClr val="0E101A"/>
                </a:solidFill>
                <a:latin typeface="Gill Sans Nova" panose="020B0602020104020203" pitchFamily="34" charset="0"/>
              </a:rPr>
              <a:t>Legacy systems often have little to no wet season water table separation. This leads to direct nitrogen loading to groundwater</a:t>
            </a:r>
          </a:p>
          <a:p>
            <a:endParaRPr lang="en-US" dirty="0"/>
          </a:p>
        </p:txBody>
      </p:sp>
      <p:sp>
        <p:nvSpPr>
          <p:cNvPr id="4" name="Slide Number Placeholder 3"/>
          <p:cNvSpPr>
            <a:spLocks noGrp="1"/>
          </p:cNvSpPr>
          <p:nvPr>
            <p:ph type="sldNum" sz="quarter" idx="5"/>
          </p:nvPr>
        </p:nvSpPr>
        <p:spPr/>
        <p:txBody>
          <a:bodyPr/>
          <a:lstStyle/>
          <a:p>
            <a:fld id="{3874AFBE-D13E-4785-926C-07545AB40E90}" type="slidenum">
              <a:rPr lang="en-US" smtClean="0"/>
              <a:t>1</a:t>
            </a:fld>
            <a:endParaRPr lang="en-US"/>
          </a:p>
        </p:txBody>
      </p:sp>
    </p:spTree>
    <p:extLst>
      <p:ext uri="{BB962C8B-B14F-4D97-AF65-F5344CB8AC3E}">
        <p14:creationId xmlns:p14="http://schemas.microsoft.com/office/powerpoint/2010/main" val="2875262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10226042"/>
            <a:ext cx="37307520" cy="7056120"/>
          </a:xfrm>
        </p:spPr>
        <p:txBody>
          <a:bodyPr/>
          <a:lstStyle/>
          <a:p>
            <a:r>
              <a:rPr lang="en-US"/>
              <a:t>Click to edit Master title style</a:t>
            </a:r>
          </a:p>
        </p:txBody>
      </p:sp>
      <p:sp>
        <p:nvSpPr>
          <p:cNvPr id="3" name="Subtitle 2"/>
          <p:cNvSpPr>
            <a:spLocks noGrp="1"/>
          </p:cNvSpPr>
          <p:nvPr>
            <p:ph type="subTitle" idx="1"/>
          </p:nvPr>
        </p:nvSpPr>
        <p:spPr>
          <a:xfrm>
            <a:off x="6583680" y="18653760"/>
            <a:ext cx="30723840" cy="8412480"/>
          </a:xfrm>
        </p:spPr>
        <p:txBody>
          <a:bodyPr/>
          <a:lstStyle>
            <a:lvl1pPr marL="0" indent="0" algn="ctr">
              <a:buNone/>
              <a:defRPr>
                <a:solidFill>
                  <a:schemeClr val="tx1">
                    <a:tint val="75000"/>
                  </a:schemeClr>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BE3F20F-588A-4A36-9BDC-0B9043CB8797}" type="datetimeFigureOut">
              <a:rPr lang="en-US" smtClean="0"/>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B451E97-072C-4B7A-8329-1D28F91449FA}"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BE3F20F-588A-4A36-9BDC-0B9043CB8797}" type="datetimeFigureOut">
              <a:rPr lang="en-US" smtClean="0"/>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B451E97-072C-4B7A-8329-1D28F91449FA}"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3" y="21153122"/>
            <a:ext cx="37307520" cy="6537960"/>
          </a:xfrm>
        </p:spPr>
        <p:txBody>
          <a:bodyPr anchor="t"/>
          <a:lstStyle>
            <a:lvl1pPr algn="l">
              <a:defRPr sz="19200" b="1" cap="all"/>
            </a:lvl1pPr>
          </a:lstStyle>
          <a:p>
            <a:r>
              <a:rPr lang="en-US"/>
              <a:t>Click to edit Master title style</a:t>
            </a:r>
          </a:p>
        </p:txBody>
      </p:sp>
      <p:sp>
        <p:nvSpPr>
          <p:cNvPr id="3" name="Text Placeholder 2"/>
          <p:cNvSpPr>
            <a:spLocks noGrp="1"/>
          </p:cNvSpPr>
          <p:nvPr>
            <p:ph type="body" idx="1"/>
          </p:nvPr>
        </p:nvSpPr>
        <p:spPr>
          <a:xfrm>
            <a:off x="3467103" y="13952225"/>
            <a:ext cx="37307520" cy="7200898"/>
          </a:xfrm>
        </p:spPr>
        <p:txBody>
          <a:bodyPr anchor="b"/>
          <a:lstStyle>
            <a:lvl1pPr marL="0" indent="0">
              <a:buNone/>
              <a:defRPr sz="9600">
                <a:solidFill>
                  <a:schemeClr val="tx1">
                    <a:tint val="75000"/>
                  </a:schemeClr>
                </a:solidFill>
              </a:defRPr>
            </a:lvl1pPr>
            <a:lvl2pPr marL="2194560" indent="0">
              <a:buNone/>
              <a:defRPr sz="8600">
                <a:solidFill>
                  <a:schemeClr val="tx1">
                    <a:tint val="75000"/>
                  </a:schemeClr>
                </a:solidFill>
              </a:defRPr>
            </a:lvl2pPr>
            <a:lvl3pPr marL="4389120" indent="0">
              <a:buNone/>
              <a:defRPr sz="7700">
                <a:solidFill>
                  <a:schemeClr val="tx1">
                    <a:tint val="75000"/>
                  </a:schemeClr>
                </a:solidFill>
              </a:defRPr>
            </a:lvl3pPr>
            <a:lvl4pPr marL="6583680" indent="0">
              <a:buNone/>
              <a:defRPr sz="6700">
                <a:solidFill>
                  <a:schemeClr val="tx1">
                    <a:tint val="75000"/>
                  </a:schemeClr>
                </a:solidFill>
              </a:defRPr>
            </a:lvl4pPr>
            <a:lvl5pPr marL="8778240" indent="0">
              <a:buNone/>
              <a:defRPr sz="6700">
                <a:solidFill>
                  <a:schemeClr val="tx1">
                    <a:tint val="75000"/>
                  </a:schemeClr>
                </a:solidFill>
              </a:defRPr>
            </a:lvl5pPr>
            <a:lvl6pPr marL="10972800" indent="0">
              <a:buNone/>
              <a:defRPr sz="6700">
                <a:solidFill>
                  <a:schemeClr val="tx1">
                    <a:tint val="75000"/>
                  </a:schemeClr>
                </a:solidFill>
              </a:defRPr>
            </a:lvl6pPr>
            <a:lvl7pPr marL="13167360" indent="0">
              <a:buNone/>
              <a:defRPr sz="6700">
                <a:solidFill>
                  <a:schemeClr val="tx1">
                    <a:tint val="75000"/>
                  </a:schemeClr>
                </a:solidFill>
              </a:defRPr>
            </a:lvl7pPr>
            <a:lvl8pPr marL="15361920" indent="0">
              <a:buNone/>
              <a:defRPr sz="6700">
                <a:solidFill>
                  <a:schemeClr val="tx1">
                    <a:tint val="75000"/>
                  </a:schemeClr>
                </a:solidFill>
              </a:defRPr>
            </a:lvl8pPr>
            <a:lvl9pPr marL="17556480" indent="0">
              <a:buNone/>
              <a:defRPr sz="67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E3F20F-588A-4A36-9BDC-0B9043CB8797}" type="datetimeFigureOut">
              <a:rPr lang="en-US" smtClean="0"/>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B451E97-072C-4B7A-8329-1D28F91449FA}"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901944" y="49156623"/>
            <a:ext cx="70736457" cy="139042138"/>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9369923" y="49156623"/>
            <a:ext cx="70736463" cy="139042138"/>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BE3F20F-588A-4A36-9BDC-0B9043CB8797}" type="datetimeFigureOut">
              <a:rPr lang="en-US" smtClean="0"/>
              <a:t>4/23/2026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B451E97-072C-4B7A-8329-1D28F91449FA}"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560" y="1318262"/>
            <a:ext cx="39502080"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561" y="7368543"/>
            <a:ext cx="19392903"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4" name="Content Placeholder 3"/>
          <p:cNvSpPr>
            <a:spLocks noGrp="1"/>
          </p:cNvSpPr>
          <p:nvPr>
            <p:ph sz="half" idx="2"/>
          </p:nvPr>
        </p:nvSpPr>
        <p:spPr>
          <a:xfrm>
            <a:off x="2194561" y="10439401"/>
            <a:ext cx="19392903"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123" y="7368543"/>
            <a:ext cx="19400520"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6" name="Content Placeholder 5"/>
          <p:cNvSpPr>
            <a:spLocks noGrp="1"/>
          </p:cNvSpPr>
          <p:nvPr>
            <p:ph sz="quarter" idx="4"/>
          </p:nvPr>
        </p:nvSpPr>
        <p:spPr>
          <a:xfrm>
            <a:off x="22296123" y="10439401"/>
            <a:ext cx="19400520"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BE3F20F-588A-4A36-9BDC-0B9043CB8797}" type="datetimeFigureOut">
              <a:rPr lang="en-US" smtClean="0"/>
              <a:t>4/23/2026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B451E97-072C-4B7A-8329-1D28F91449FA}"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BE3F20F-588A-4A36-9BDC-0B9043CB8797}" type="datetimeFigureOut">
              <a:rPr lang="en-US" smtClean="0"/>
              <a:t>4/23/2026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B451E97-072C-4B7A-8329-1D28F91449FA}"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E3F20F-588A-4A36-9BDC-0B9043CB8797}" type="datetimeFigureOut">
              <a:rPr lang="en-US" smtClean="0"/>
              <a:t>4/23/2026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B451E97-072C-4B7A-8329-1D28F91449FA}"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3" y="1310640"/>
            <a:ext cx="14439903" cy="5577840"/>
          </a:xfrm>
        </p:spPr>
        <p:txBody>
          <a:bodyPr anchor="b"/>
          <a:lstStyle>
            <a:lvl1pPr algn="l">
              <a:defRPr sz="9600" b="1"/>
            </a:lvl1pPr>
          </a:lstStyle>
          <a:p>
            <a:r>
              <a:rPr lang="en-US"/>
              <a:t>Click to edit Master title style</a:t>
            </a:r>
          </a:p>
        </p:txBody>
      </p:sp>
      <p:sp>
        <p:nvSpPr>
          <p:cNvPr id="3" name="Content Placeholder 2"/>
          <p:cNvSpPr>
            <a:spLocks noGrp="1"/>
          </p:cNvSpPr>
          <p:nvPr>
            <p:ph idx="1"/>
          </p:nvPr>
        </p:nvSpPr>
        <p:spPr>
          <a:xfrm>
            <a:off x="17160240" y="1310643"/>
            <a:ext cx="24536400" cy="28094942"/>
          </a:xfrm>
        </p:spPr>
        <p:txBody>
          <a:bodyPr/>
          <a:lstStyle>
            <a:lvl1pPr>
              <a:defRPr sz="15400"/>
            </a:lvl1pPr>
            <a:lvl2pPr>
              <a:defRPr sz="13400"/>
            </a:lvl2pPr>
            <a:lvl3pPr>
              <a:defRPr sz="1150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563" y="6888483"/>
            <a:ext cx="14439903" cy="22517102"/>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4"/>
          <p:cNvSpPr>
            <a:spLocks noGrp="1"/>
          </p:cNvSpPr>
          <p:nvPr>
            <p:ph type="dt" sz="half" idx="10"/>
          </p:nvPr>
        </p:nvSpPr>
        <p:spPr/>
        <p:txBody>
          <a:bodyPr/>
          <a:lstStyle/>
          <a:p>
            <a:fld id="{4BE3F20F-588A-4A36-9BDC-0B9043CB8797}" type="datetimeFigureOut">
              <a:rPr lang="en-US" smtClean="0"/>
              <a:t>4/23/2026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B451E97-072C-4B7A-8329-1D28F91449FA}"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3" y="23042881"/>
            <a:ext cx="26334720" cy="2720342"/>
          </a:xfrm>
        </p:spPr>
        <p:txBody>
          <a:bodyPr anchor="b"/>
          <a:lstStyle>
            <a:lvl1pPr algn="l">
              <a:defRPr sz="9600" b="1"/>
            </a:lvl1pPr>
          </a:lstStyle>
          <a:p>
            <a:r>
              <a:rPr lang="en-US"/>
              <a:t>Click to edit Master title style</a:t>
            </a:r>
          </a:p>
        </p:txBody>
      </p:sp>
      <p:sp>
        <p:nvSpPr>
          <p:cNvPr id="3" name="Picture Placeholder 2"/>
          <p:cNvSpPr>
            <a:spLocks noGrp="1"/>
          </p:cNvSpPr>
          <p:nvPr>
            <p:ph type="pic" idx="1"/>
          </p:nvPr>
        </p:nvSpPr>
        <p:spPr>
          <a:xfrm>
            <a:off x="8602983" y="2941320"/>
            <a:ext cx="26334720" cy="19751040"/>
          </a:xfrm>
        </p:spPr>
        <p:txBody>
          <a:bodyPr/>
          <a:lstStyle>
            <a:lvl1pPr marL="0" indent="0">
              <a:buNone/>
              <a:defRPr sz="15400"/>
            </a:lvl1pPr>
            <a:lvl2pPr marL="2194560" indent="0">
              <a:buNone/>
              <a:defRPr sz="13400"/>
            </a:lvl2pPr>
            <a:lvl3pPr marL="4389120" indent="0">
              <a:buNone/>
              <a:defRPr sz="115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endParaRPr lang="en-US" dirty="0"/>
          </a:p>
        </p:txBody>
      </p:sp>
      <p:sp>
        <p:nvSpPr>
          <p:cNvPr id="4" name="Text Placeholder 3"/>
          <p:cNvSpPr>
            <a:spLocks noGrp="1"/>
          </p:cNvSpPr>
          <p:nvPr>
            <p:ph type="body" sz="half" idx="2"/>
          </p:nvPr>
        </p:nvSpPr>
        <p:spPr>
          <a:xfrm>
            <a:off x="8602983" y="25763223"/>
            <a:ext cx="26334720" cy="3863338"/>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4"/>
          <p:cNvSpPr>
            <a:spLocks noGrp="1"/>
          </p:cNvSpPr>
          <p:nvPr>
            <p:ph type="dt" sz="half" idx="10"/>
          </p:nvPr>
        </p:nvSpPr>
        <p:spPr/>
        <p:txBody>
          <a:bodyPr/>
          <a:lstStyle/>
          <a:p>
            <a:fld id="{4BE3F20F-588A-4A36-9BDC-0B9043CB8797}" type="datetimeFigureOut">
              <a:rPr lang="en-US" smtClean="0"/>
              <a:t>4/23/2026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B451E97-072C-4B7A-8329-1D28F91449FA}"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BE3F20F-588A-4A36-9BDC-0B9043CB8797}" type="datetimeFigureOut">
              <a:rPr lang="en-US" smtClean="0"/>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B451E97-072C-4B7A-8329-1D28F91449FA}"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4559081" y="8435343"/>
            <a:ext cx="35547303" cy="17976341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901946" y="8435343"/>
            <a:ext cx="105925617" cy="17976341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BE3F20F-588A-4A36-9BDC-0B9043CB8797}" type="datetimeFigureOut">
              <a:rPr lang="en-US" smtClean="0"/>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B451E97-072C-4B7A-8329-1D28F91449FA}"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94560" y="1318262"/>
            <a:ext cx="39502080" cy="5486400"/>
          </a:xfrm>
          <a:prstGeom prst="rect">
            <a:avLst/>
          </a:prstGeom>
        </p:spPr>
        <p:txBody>
          <a:bodyPr vert="horz" lIns="438912" tIns="219456" rIns="438912" bIns="219456" rtlCol="0" anchor="ctr">
            <a:normAutofit/>
          </a:bodyPr>
          <a:lstStyle/>
          <a:p>
            <a:r>
              <a:rPr lang="en-US"/>
              <a:t>Click to edit Master title style</a:t>
            </a:r>
          </a:p>
        </p:txBody>
      </p:sp>
      <p:sp>
        <p:nvSpPr>
          <p:cNvPr id="3" name="Text Placeholder 2"/>
          <p:cNvSpPr>
            <a:spLocks noGrp="1"/>
          </p:cNvSpPr>
          <p:nvPr>
            <p:ph type="body" idx="1"/>
          </p:nvPr>
        </p:nvSpPr>
        <p:spPr>
          <a:xfrm>
            <a:off x="2194560" y="7680963"/>
            <a:ext cx="39502080" cy="21724622"/>
          </a:xfrm>
          <a:prstGeom prst="rect">
            <a:avLst/>
          </a:prstGeom>
        </p:spPr>
        <p:txBody>
          <a:bodyPr vert="horz" lIns="438912" tIns="219456" rIns="438912" bIns="21945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194560" y="30510482"/>
            <a:ext cx="10241280" cy="1752600"/>
          </a:xfrm>
          <a:prstGeom prst="rect">
            <a:avLst/>
          </a:prstGeom>
        </p:spPr>
        <p:txBody>
          <a:bodyPr vert="horz" lIns="438912" tIns="219456" rIns="438912" bIns="219456" rtlCol="0" anchor="ctr"/>
          <a:lstStyle>
            <a:lvl1pPr algn="l">
              <a:defRPr sz="5800">
                <a:solidFill>
                  <a:schemeClr val="tx1">
                    <a:tint val="75000"/>
                  </a:schemeClr>
                </a:solidFill>
              </a:defRPr>
            </a:lvl1pPr>
          </a:lstStyle>
          <a:p>
            <a:fld id="{4BE3F20F-588A-4A36-9BDC-0B9043CB8797}" type="datetimeFigureOut">
              <a:rPr lang="en-US" smtClean="0"/>
              <a:t>4/23/2026</a:t>
            </a:fld>
            <a:endParaRPr lang="en-US" dirty="0"/>
          </a:p>
        </p:txBody>
      </p:sp>
      <p:sp>
        <p:nvSpPr>
          <p:cNvPr id="5" name="Footer Placeholder 4"/>
          <p:cNvSpPr>
            <a:spLocks noGrp="1"/>
          </p:cNvSpPr>
          <p:nvPr>
            <p:ph type="ftr" sz="quarter" idx="3"/>
          </p:nvPr>
        </p:nvSpPr>
        <p:spPr>
          <a:xfrm>
            <a:off x="14996160" y="30510482"/>
            <a:ext cx="13898880" cy="1752600"/>
          </a:xfrm>
          <a:prstGeom prst="rect">
            <a:avLst/>
          </a:prstGeom>
        </p:spPr>
        <p:txBody>
          <a:bodyPr vert="horz" lIns="438912" tIns="219456" rIns="438912" bIns="219456" rtlCol="0" anchor="ctr"/>
          <a:lstStyle>
            <a:lvl1pPr algn="ctr">
              <a:defRPr sz="58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1455360" y="30510482"/>
            <a:ext cx="10241280" cy="1752600"/>
          </a:xfrm>
          <a:prstGeom prst="rect">
            <a:avLst/>
          </a:prstGeom>
        </p:spPr>
        <p:txBody>
          <a:bodyPr vert="horz" lIns="438912" tIns="219456" rIns="438912" bIns="219456" rtlCol="0" anchor="ctr"/>
          <a:lstStyle>
            <a:lvl1pPr algn="r">
              <a:defRPr sz="5800">
                <a:solidFill>
                  <a:schemeClr val="tx1">
                    <a:tint val="75000"/>
                  </a:schemeClr>
                </a:solidFill>
              </a:defRPr>
            </a:lvl1pPr>
          </a:lstStyle>
          <a:p>
            <a:fld id="{3B451E97-072C-4B7A-8329-1D28F91449FA}"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389120" rtl="0" eaLnBrk="1" latinLnBrk="0" hangingPunct="1">
        <a:spcBef>
          <a:spcPct val="0"/>
        </a:spcBef>
        <a:buNone/>
        <a:defRPr sz="21100" kern="1200">
          <a:solidFill>
            <a:schemeClr val="tx1"/>
          </a:solidFill>
          <a:latin typeface="+mj-lt"/>
          <a:ea typeface="+mj-ea"/>
          <a:cs typeface="+mj-cs"/>
        </a:defRPr>
      </a:lvl1pPr>
    </p:titleStyle>
    <p:bodyStyle>
      <a:lvl1pPr marL="1645920" indent="-1645920" algn="l" defTabSz="438912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6160" indent="-1371600" algn="l" defTabSz="4389120" rtl="0" eaLnBrk="1" latinLnBrk="0" hangingPunct="1">
        <a:spcBef>
          <a:spcPct val="20000"/>
        </a:spcBef>
        <a:buFont typeface="Arial" pitchFamily="34" charset="0"/>
        <a:buChar char="–"/>
        <a:defRPr sz="13400" kern="1200">
          <a:solidFill>
            <a:schemeClr val="tx1"/>
          </a:solidFill>
          <a:latin typeface="+mn-lt"/>
          <a:ea typeface="+mn-ea"/>
          <a:cs typeface="+mn-cs"/>
        </a:defRPr>
      </a:lvl2pPr>
      <a:lvl3pPr marL="5486400" indent="-1097280" algn="l" defTabSz="4389120" rtl="0" eaLnBrk="1" latinLnBrk="0" hangingPunct="1">
        <a:spcBef>
          <a:spcPct val="20000"/>
        </a:spcBef>
        <a:buFont typeface="Arial" pitchFamily="34" charset="0"/>
        <a:buChar char="•"/>
        <a:defRPr sz="11500" kern="1200">
          <a:solidFill>
            <a:schemeClr val="tx1"/>
          </a:solidFill>
          <a:latin typeface="+mn-lt"/>
          <a:ea typeface="+mn-ea"/>
          <a:cs typeface="+mn-cs"/>
        </a:defRPr>
      </a:lvl3pPr>
      <a:lvl4pPr marL="768096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52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7008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464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920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376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jpeg"/><Relationship Id="rId12" Type="http://schemas.openxmlformats.org/officeDocument/2006/relationships/image" Target="../media/image10.jpe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jpe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jpe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jpe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27">
            <a:extLst>
              <a:ext uri="{FF2B5EF4-FFF2-40B4-BE49-F238E27FC236}">
                <a16:creationId xmlns:a16="http://schemas.microsoft.com/office/drawing/2014/main" id="{5995F80D-19C3-B00C-D34F-C9B697784E33}"/>
              </a:ext>
            </a:extLst>
          </p:cNvPr>
          <p:cNvSpPr>
            <a:spLocks noChangeArrowheads="1"/>
          </p:cNvSpPr>
          <p:nvPr/>
        </p:nvSpPr>
        <p:spPr bwMode="auto">
          <a:xfrm>
            <a:off x="-8294" y="-83234"/>
            <a:ext cx="43939693" cy="4738350"/>
          </a:xfrm>
          <a:prstGeom prst="rect">
            <a:avLst/>
          </a:prstGeom>
          <a:gradFill>
            <a:gsLst>
              <a:gs pos="5000">
                <a:srgbClr val="235078"/>
              </a:gs>
              <a:gs pos="100000">
                <a:srgbClr val="1482A5"/>
              </a:gs>
            </a:gsLst>
            <a:lin ang="0" scaled="1"/>
          </a:gradFill>
          <a:ln>
            <a:noFill/>
          </a:ln>
        </p:spPr>
        <p:txBody>
          <a:bodyPr wrap="none" anchor="ctr"/>
          <a:lstStyle>
            <a:defPPr>
              <a:defRPr kern="1200"/>
            </a:defPPr>
          </a:lstStyle>
          <a:p>
            <a:endParaRPr lang="en-US"/>
          </a:p>
        </p:txBody>
      </p:sp>
      <p:sp>
        <p:nvSpPr>
          <p:cNvPr id="27" name="Rectangle 26">
            <a:extLst>
              <a:ext uri="{FF2B5EF4-FFF2-40B4-BE49-F238E27FC236}">
                <a16:creationId xmlns:a16="http://schemas.microsoft.com/office/drawing/2014/main" id="{8A98E661-1FDA-E45A-89F0-0BE59CD3A058}"/>
              </a:ext>
            </a:extLst>
          </p:cNvPr>
          <p:cNvSpPr/>
          <p:nvPr/>
        </p:nvSpPr>
        <p:spPr>
          <a:xfrm>
            <a:off x="39776400" y="76200"/>
            <a:ext cx="3666488" cy="375848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87" name="Picture 1086">
            <a:extLst>
              <a:ext uri="{FF2B5EF4-FFF2-40B4-BE49-F238E27FC236}">
                <a16:creationId xmlns:a16="http://schemas.microsoft.com/office/drawing/2014/main" id="{C0B609C2-2E2D-CAA3-BB97-5ECDE84B1DF8}"/>
              </a:ext>
            </a:extLst>
          </p:cNvPr>
          <p:cNvPicPr>
            <a:picLocks noChangeAspect="1"/>
          </p:cNvPicPr>
          <p:nvPr/>
        </p:nvPicPr>
        <p:blipFill>
          <a:blip r:embed="rId3">
            <a:extLst>
              <a:ext uri="{28A0092B-C50C-407E-A947-70E740481C1C}">
                <a14:useLocalDpi xmlns:a14="http://schemas.microsoft.com/office/drawing/2010/main" val="0"/>
              </a:ext>
            </a:extLst>
          </a:blip>
          <a:srcRect b="61930"/>
          <a:stretch>
            <a:fillRect/>
          </a:stretch>
        </p:blipFill>
        <p:spPr>
          <a:xfrm>
            <a:off x="14235053" y="5299965"/>
            <a:ext cx="15807667" cy="4011981"/>
          </a:xfrm>
          <a:prstGeom prst="rect">
            <a:avLst/>
          </a:prstGeom>
        </p:spPr>
      </p:pic>
      <p:pic>
        <p:nvPicPr>
          <p:cNvPr id="1090" name="Picture 1089">
            <a:extLst>
              <a:ext uri="{FF2B5EF4-FFF2-40B4-BE49-F238E27FC236}">
                <a16:creationId xmlns:a16="http://schemas.microsoft.com/office/drawing/2014/main" id="{85D99F75-835A-F757-F8AB-DD97C704A78B}"/>
              </a:ext>
            </a:extLst>
          </p:cNvPr>
          <p:cNvPicPr>
            <a:picLocks noChangeAspect="1"/>
          </p:cNvPicPr>
          <p:nvPr/>
        </p:nvPicPr>
        <p:blipFill>
          <a:blip r:embed="rId3">
            <a:extLst>
              <a:ext uri="{28A0092B-C50C-407E-A947-70E740481C1C}">
                <a14:useLocalDpi xmlns:a14="http://schemas.microsoft.com/office/drawing/2010/main" val="0"/>
              </a:ext>
            </a:extLst>
          </a:blip>
          <a:srcRect t="60381" b="10018"/>
          <a:stretch>
            <a:fillRect/>
          </a:stretch>
        </p:blipFill>
        <p:spPr>
          <a:xfrm>
            <a:off x="14239566" y="8846385"/>
            <a:ext cx="15809104" cy="3119722"/>
          </a:xfrm>
          <a:prstGeom prst="rect">
            <a:avLst/>
          </a:prstGeom>
        </p:spPr>
      </p:pic>
      <p:pic>
        <p:nvPicPr>
          <p:cNvPr id="2" name="Picture 1" descr="A graph of a graph showing the amount of nitrogen in a laboratory&#10;&#10;AI-generated content may be incorrect.">
            <a:extLst>
              <a:ext uri="{FF2B5EF4-FFF2-40B4-BE49-F238E27FC236}">
                <a16:creationId xmlns:a16="http://schemas.microsoft.com/office/drawing/2014/main" id="{23A77515-3F0B-2BA8-8913-7B92074F98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488400" y="13842927"/>
            <a:ext cx="8189423" cy="8177324"/>
          </a:xfrm>
          <a:prstGeom prst="rect">
            <a:avLst/>
          </a:prstGeom>
        </p:spPr>
      </p:pic>
      <p:sp>
        <p:nvSpPr>
          <p:cNvPr id="57" name="AutoShape 4" descr="Generated image: Tech tools in harmony">
            <a:extLst>
              <a:ext uri="{FF2B5EF4-FFF2-40B4-BE49-F238E27FC236}">
                <a16:creationId xmlns:a16="http://schemas.microsoft.com/office/drawing/2014/main" id="{5DC0F77F-4D77-F46B-96F1-4287E1AE4DE1}"/>
              </a:ext>
            </a:extLst>
          </p:cNvPr>
          <p:cNvSpPr>
            <a:spLocks noChangeAspect="1" noChangeArrowheads="1"/>
          </p:cNvSpPr>
          <p:nvPr/>
        </p:nvSpPr>
        <p:spPr bwMode="auto">
          <a:xfrm>
            <a:off x="11347869" y="2555099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24" name="AutoShape 8" descr="Generated image: Software logos in a row">
            <a:extLst>
              <a:ext uri="{FF2B5EF4-FFF2-40B4-BE49-F238E27FC236}">
                <a16:creationId xmlns:a16="http://schemas.microsoft.com/office/drawing/2014/main" id="{0682BBEF-7D1D-0910-02D3-3C59812DB22A}"/>
              </a:ext>
            </a:extLst>
          </p:cNvPr>
          <p:cNvSpPr>
            <a:spLocks noChangeAspect="1" noChangeArrowheads="1"/>
          </p:cNvSpPr>
          <p:nvPr/>
        </p:nvSpPr>
        <p:spPr bwMode="auto">
          <a:xfrm>
            <a:off x="11500269" y="2570339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9" name="Picture 28">
            <a:extLst>
              <a:ext uri="{FF2B5EF4-FFF2-40B4-BE49-F238E27FC236}">
                <a16:creationId xmlns:a16="http://schemas.microsoft.com/office/drawing/2014/main" id="{3DC02A8D-A5B1-8105-11B0-F5F8CC64FBAF}"/>
              </a:ext>
            </a:extLst>
          </p:cNvPr>
          <p:cNvPicPr>
            <a:picLocks noChangeAspect="1"/>
          </p:cNvPicPr>
          <p:nvPr/>
        </p:nvPicPr>
        <p:blipFill>
          <a:blip r:embed="rId5"/>
          <a:srcRect l="5674" t="22894" r="4771" b="13815"/>
          <a:stretch>
            <a:fillRect/>
          </a:stretch>
        </p:blipFill>
        <p:spPr>
          <a:xfrm>
            <a:off x="-437957" y="13517778"/>
            <a:ext cx="9854833" cy="4643144"/>
          </a:xfrm>
          <a:prstGeom prst="rect">
            <a:avLst/>
          </a:prstGeom>
        </p:spPr>
      </p:pic>
      <p:pic>
        <p:nvPicPr>
          <p:cNvPr id="4" name="Picture 3">
            <a:extLst>
              <a:ext uri="{FF2B5EF4-FFF2-40B4-BE49-F238E27FC236}">
                <a16:creationId xmlns:a16="http://schemas.microsoft.com/office/drawing/2014/main" id="{DD7F41D0-CE95-6DA2-6FEF-FC5C8AE1274E}"/>
              </a:ext>
            </a:extLst>
          </p:cNvPr>
          <p:cNvPicPr>
            <a:picLocks noChangeAspect="1"/>
          </p:cNvPicPr>
          <p:nvPr/>
        </p:nvPicPr>
        <p:blipFill>
          <a:blip r:embed="rId6"/>
          <a:stretch>
            <a:fillRect/>
          </a:stretch>
        </p:blipFill>
        <p:spPr>
          <a:xfrm>
            <a:off x="9228833" y="19842968"/>
            <a:ext cx="5954887" cy="11384879"/>
          </a:xfrm>
          <a:prstGeom prst="rect">
            <a:avLst/>
          </a:prstGeom>
        </p:spPr>
      </p:pic>
      <p:pic>
        <p:nvPicPr>
          <p:cNvPr id="1117" name="Picture 1116">
            <a:extLst>
              <a:ext uri="{FF2B5EF4-FFF2-40B4-BE49-F238E27FC236}">
                <a16:creationId xmlns:a16="http://schemas.microsoft.com/office/drawing/2014/main" id="{BDAD4A88-D9D6-893E-3BEA-69D24D046F7F}"/>
              </a:ext>
            </a:extLst>
          </p:cNvPr>
          <p:cNvPicPr>
            <a:picLocks noChangeAspect="1"/>
          </p:cNvPicPr>
          <p:nvPr/>
        </p:nvPicPr>
        <p:blipFill>
          <a:blip r:embed="rId5"/>
          <a:srcRect l="6524" t="21707" r="6238" b="14438"/>
          <a:stretch>
            <a:fillRect/>
          </a:stretch>
        </p:blipFill>
        <p:spPr>
          <a:xfrm>
            <a:off x="-1074996" y="10965499"/>
            <a:ext cx="10475282" cy="5552256"/>
          </a:xfrm>
          <a:prstGeom prst="rect">
            <a:avLst/>
          </a:prstGeom>
        </p:spPr>
      </p:pic>
      <p:cxnSp>
        <p:nvCxnSpPr>
          <p:cNvPr id="6" name="Straight Connector 5">
            <a:extLst>
              <a:ext uri="{FF2B5EF4-FFF2-40B4-BE49-F238E27FC236}">
                <a16:creationId xmlns:a16="http://schemas.microsoft.com/office/drawing/2014/main" id="{154D2B83-D5D0-7787-293A-4720494B5126}"/>
              </a:ext>
            </a:extLst>
          </p:cNvPr>
          <p:cNvCxnSpPr>
            <a:cxnSpLocks/>
          </p:cNvCxnSpPr>
          <p:nvPr/>
        </p:nvCxnSpPr>
        <p:spPr>
          <a:xfrm flipH="1">
            <a:off x="2513947" y="27286151"/>
            <a:ext cx="9446333" cy="4837864"/>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72C5B6F5-941D-10CC-48AB-3FFEB9BBC9B4}"/>
              </a:ext>
            </a:extLst>
          </p:cNvPr>
          <p:cNvCxnSpPr>
            <a:cxnSpLocks/>
          </p:cNvCxnSpPr>
          <p:nvPr/>
        </p:nvCxnSpPr>
        <p:spPr>
          <a:xfrm flipV="1">
            <a:off x="2521749" y="26139559"/>
            <a:ext cx="9446333" cy="304800"/>
          </a:xfrm>
          <a:prstGeom prst="line">
            <a:avLst/>
          </a:prstGeom>
          <a:ln w="38100"/>
        </p:spPr>
        <p:style>
          <a:lnRef idx="1">
            <a:schemeClr val="dk1"/>
          </a:lnRef>
          <a:fillRef idx="0">
            <a:schemeClr val="dk1"/>
          </a:fillRef>
          <a:effectRef idx="0">
            <a:schemeClr val="dk1"/>
          </a:effectRef>
          <a:fontRef idx="minor">
            <a:schemeClr val="tx1"/>
          </a:fontRef>
        </p:style>
      </p:cxnSp>
      <p:pic>
        <p:nvPicPr>
          <p:cNvPr id="9" name="Picture 8">
            <a:extLst>
              <a:ext uri="{FF2B5EF4-FFF2-40B4-BE49-F238E27FC236}">
                <a16:creationId xmlns:a16="http://schemas.microsoft.com/office/drawing/2014/main" id="{FE10EC83-A17F-01D5-A678-63333A396E3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521749" y="26519238"/>
            <a:ext cx="7111741" cy="5545196"/>
          </a:xfrm>
          <a:prstGeom prst="rect">
            <a:avLst/>
          </a:prstGeom>
          <a:ln w="76200" cap="sq" cmpd="thickThin">
            <a:solidFill>
              <a:srgbClr val="000000"/>
            </a:solidFill>
            <a:prstDash val="solid"/>
            <a:miter lim="800000"/>
          </a:ln>
          <a:effectLst>
            <a:innerShdw blurRad="76200">
              <a:srgbClr val="000000"/>
            </a:innerShdw>
          </a:effectLst>
        </p:spPr>
      </p:pic>
      <p:cxnSp>
        <p:nvCxnSpPr>
          <p:cNvPr id="10" name="Straight Connector 9">
            <a:extLst>
              <a:ext uri="{FF2B5EF4-FFF2-40B4-BE49-F238E27FC236}">
                <a16:creationId xmlns:a16="http://schemas.microsoft.com/office/drawing/2014/main" id="{6FDD7BA8-62E4-0482-F67A-B6AE2880CBF1}"/>
              </a:ext>
            </a:extLst>
          </p:cNvPr>
          <p:cNvCxnSpPr>
            <a:cxnSpLocks/>
          </p:cNvCxnSpPr>
          <p:nvPr/>
        </p:nvCxnSpPr>
        <p:spPr>
          <a:xfrm flipV="1">
            <a:off x="9692646" y="27291866"/>
            <a:ext cx="3804816" cy="4772568"/>
          </a:xfrm>
          <a:prstGeom prst="line">
            <a:avLst/>
          </a:prstGeom>
          <a:ln w="38100"/>
        </p:spPr>
        <p:style>
          <a:lnRef idx="1">
            <a:schemeClr val="dk1"/>
          </a:lnRef>
          <a:fillRef idx="0">
            <a:schemeClr val="dk1"/>
          </a:fillRef>
          <a:effectRef idx="0">
            <a:schemeClr val="dk1"/>
          </a:effectRef>
          <a:fontRef idx="minor">
            <a:schemeClr val="tx1"/>
          </a:fontRef>
        </p:style>
      </p:cxnSp>
      <p:sp>
        <p:nvSpPr>
          <p:cNvPr id="1050" name="Rectangle 1049">
            <a:extLst>
              <a:ext uri="{FF2B5EF4-FFF2-40B4-BE49-F238E27FC236}">
                <a16:creationId xmlns:a16="http://schemas.microsoft.com/office/drawing/2014/main" id="{E2112DB2-7D60-44A2-3F0E-CEB9CBE6937C}"/>
              </a:ext>
            </a:extLst>
          </p:cNvPr>
          <p:cNvSpPr/>
          <p:nvPr/>
        </p:nvSpPr>
        <p:spPr>
          <a:xfrm>
            <a:off x="21259800" y="27153101"/>
            <a:ext cx="10833431" cy="815341"/>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CC0552DB-20DC-00DD-3898-00C1377EF64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35355" y="9920973"/>
            <a:ext cx="3810000" cy="3810000"/>
          </a:xfrm>
          <a:prstGeom prst="rect">
            <a:avLst/>
          </a:prstGeom>
          <a:noFill/>
          <a:extLst>
            <a:ext uri="{909E8E84-426E-40DD-AFC4-6F175D3DCCD1}">
              <a14:hiddenFill xmlns:a14="http://schemas.microsoft.com/office/drawing/2010/main">
                <a:solidFill>
                  <a:srgbClr val="FFFFFF"/>
                </a:solidFill>
              </a14:hiddenFill>
            </a:ext>
          </a:extLst>
        </p:spPr>
      </p:pic>
      <p:sp>
        <p:nvSpPr>
          <p:cNvPr id="39" name="Arrow: Striped Right 38">
            <a:extLst>
              <a:ext uri="{FF2B5EF4-FFF2-40B4-BE49-F238E27FC236}">
                <a16:creationId xmlns:a16="http://schemas.microsoft.com/office/drawing/2014/main" id="{5E91C34B-344C-8F8E-AEB7-11E776F967D7}"/>
              </a:ext>
            </a:extLst>
          </p:cNvPr>
          <p:cNvSpPr/>
          <p:nvPr/>
        </p:nvSpPr>
        <p:spPr>
          <a:xfrm>
            <a:off x="5518505" y="11203048"/>
            <a:ext cx="2275629" cy="1152700"/>
          </a:xfrm>
          <a:prstGeom prst="stripedRightArrow">
            <a:avLst>
              <a:gd name="adj1" fmla="val 50000"/>
              <a:gd name="adj2" fmla="val 92308"/>
            </a:avLst>
          </a:prstGeom>
          <a:solidFill>
            <a:srgbClr val="004885"/>
          </a:solidFill>
          <a:ln>
            <a:solidFill>
              <a:srgbClr val="018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ATU System Installs &amp; More | Cleaner Sewage Treatment Solution">
            <a:extLst>
              <a:ext uri="{FF2B5EF4-FFF2-40B4-BE49-F238E27FC236}">
                <a16:creationId xmlns:a16="http://schemas.microsoft.com/office/drawing/2014/main" id="{A23DFA91-E04A-1D3F-20F3-A6179C2F6DD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526494" y="9670425"/>
            <a:ext cx="4400550" cy="4092512"/>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2">
            <a:extLst>
              <a:ext uri="{FF2B5EF4-FFF2-40B4-BE49-F238E27FC236}">
                <a16:creationId xmlns:a16="http://schemas.microsoft.com/office/drawing/2014/main" id="{80F54B9A-7D37-0312-9F79-EF8189E9E51E}"/>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5103038" y="24078252"/>
            <a:ext cx="7739162" cy="5980263"/>
          </a:xfrm>
          <a:prstGeom prst="rect">
            <a:avLst/>
          </a:prstGeom>
        </p:spPr>
      </p:pic>
      <p:pic>
        <p:nvPicPr>
          <p:cNvPr id="45" name="Picture 44">
            <a:extLst>
              <a:ext uri="{FF2B5EF4-FFF2-40B4-BE49-F238E27FC236}">
                <a16:creationId xmlns:a16="http://schemas.microsoft.com/office/drawing/2014/main" id="{6FDF57C8-C0CD-50F0-C0A7-7CDE6DD773AE}"/>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6120470" y="24073630"/>
            <a:ext cx="7739162" cy="5980262"/>
          </a:xfrm>
          <a:prstGeom prst="rect">
            <a:avLst/>
          </a:prstGeom>
        </p:spPr>
      </p:pic>
      <p:pic>
        <p:nvPicPr>
          <p:cNvPr id="47" name="Picture 46">
            <a:extLst>
              <a:ext uri="{FF2B5EF4-FFF2-40B4-BE49-F238E27FC236}">
                <a16:creationId xmlns:a16="http://schemas.microsoft.com/office/drawing/2014/main" id="{BB7FC346-38CC-2FFC-C5EA-19EC89430B68}"/>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3983814" y="24068770"/>
            <a:ext cx="7697586" cy="5948135"/>
          </a:xfrm>
          <a:prstGeom prst="rect">
            <a:avLst/>
          </a:prstGeom>
        </p:spPr>
      </p:pic>
      <p:sp>
        <p:nvSpPr>
          <p:cNvPr id="59" name="TextBox 58">
            <a:extLst>
              <a:ext uri="{FF2B5EF4-FFF2-40B4-BE49-F238E27FC236}">
                <a16:creationId xmlns:a16="http://schemas.microsoft.com/office/drawing/2014/main" id="{D30C3D69-19F6-BBBE-DFCD-4BF568C27630}"/>
              </a:ext>
            </a:extLst>
          </p:cNvPr>
          <p:cNvSpPr txBox="1"/>
          <p:nvPr/>
        </p:nvSpPr>
        <p:spPr>
          <a:xfrm>
            <a:off x="15692516" y="11282327"/>
            <a:ext cx="13985307" cy="1077218"/>
          </a:xfrm>
          <a:prstGeom prst="rect">
            <a:avLst/>
          </a:prstGeom>
          <a:noFill/>
        </p:spPr>
        <p:txBody>
          <a:bodyPr wrap="square" rtlCol="0">
            <a:spAutoFit/>
          </a:bodyPr>
          <a:lstStyle/>
          <a:p>
            <a:r>
              <a:rPr lang="en-US" sz="3200" dirty="0">
                <a:ln w="0"/>
                <a:effectLst>
                  <a:outerShdw blurRad="38100" dist="19050" dir="2700000" algn="tl" rotWithShape="0">
                    <a:schemeClr val="dk1">
                      <a:alpha val="40000"/>
                    </a:schemeClr>
                  </a:outerShdw>
                </a:effectLst>
                <a:latin typeface="+mj-lt"/>
              </a:rPr>
              <a:t>Figure 4. Conventional septic system with 72 mg/L NO₃-N input and aerobic treatment units (ATUs) with 90% reduction of NO₃-N input</a:t>
            </a:r>
          </a:p>
        </p:txBody>
      </p:sp>
      <p:pic>
        <p:nvPicPr>
          <p:cNvPr id="1027" name="Picture 1026">
            <a:extLst>
              <a:ext uri="{FF2B5EF4-FFF2-40B4-BE49-F238E27FC236}">
                <a16:creationId xmlns:a16="http://schemas.microsoft.com/office/drawing/2014/main" id="{C7401698-6622-8954-9077-1FFBE9DB50CB}"/>
              </a:ext>
            </a:extLst>
          </p:cNvPr>
          <p:cNvPicPr>
            <a:picLocks noChangeAspect="1"/>
          </p:cNvPicPr>
          <p:nvPr/>
        </p:nvPicPr>
        <p:blipFill>
          <a:blip r:embed="rId13"/>
          <a:srcRect l="4198" t="23550" r="22803" b="48669"/>
          <a:stretch>
            <a:fillRect/>
          </a:stretch>
        </p:blipFill>
        <p:spPr>
          <a:xfrm>
            <a:off x="199337" y="16316808"/>
            <a:ext cx="14804186" cy="3820022"/>
          </a:xfrm>
          <a:prstGeom prst="rect">
            <a:avLst/>
          </a:prstGeom>
        </p:spPr>
      </p:pic>
      <p:sp>
        <p:nvSpPr>
          <p:cNvPr id="31" name="Rectangle 30">
            <a:extLst>
              <a:ext uri="{FF2B5EF4-FFF2-40B4-BE49-F238E27FC236}">
                <a16:creationId xmlns:a16="http://schemas.microsoft.com/office/drawing/2014/main" id="{CC0953BD-D36B-69F0-0A35-558A72AD95B8}"/>
              </a:ext>
            </a:extLst>
          </p:cNvPr>
          <p:cNvSpPr/>
          <p:nvPr/>
        </p:nvSpPr>
        <p:spPr>
          <a:xfrm>
            <a:off x="627768" y="16840200"/>
            <a:ext cx="2838861" cy="258049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9" name="TextBox 1048">
            <a:extLst>
              <a:ext uri="{FF2B5EF4-FFF2-40B4-BE49-F238E27FC236}">
                <a16:creationId xmlns:a16="http://schemas.microsoft.com/office/drawing/2014/main" id="{5467E115-8EFE-FC9B-867B-1A20E23BB4AC}"/>
              </a:ext>
            </a:extLst>
          </p:cNvPr>
          <p:cNvSpPr txBox="1"/>
          <p:nvPr/>
        </p:nvSpPr>
        <p:spPr>
          <a:xfrm>
            <a:off x="30076490" y="22338068"/>
            <a:ext cx="13434703" cy="584775"/>
          </a:xfrm>
          <a:prstGeom prst="rect">
            <a:avLst/>
          </a:prstGeom>
          <a:solidFill>
            <a:srgbClr val="FFFFFF"/>
          </a:solidFill>
        </p:spPr>
        <p:txBody>
          <a:bodyPr wrap="none" rtlCol="0">
            <a:spAutoFit/>
          </a:bodyPr>
          <a:lstStyle/>
          <a:p>
            <a:r>
              <a:rPr lang="en-US" sz="3200" dirty="0">
                <a:latin typeface="+mj-lt"/>
              </a:rPr>
              <a:t>Figure 7. Summary statistics of modeled groundwater nitrogen concentrations</a:t>
            </a:r>
          </a:p>
        </p:txBody>
      </p:sp>
      <p:pic>
        <p:nvPicPr>
          <p:cNvPr id="7" name="Picture 6">
            <a:extLst>
              <a:ext uri="{FF2B5EF4-FFF2-40B4-BE49-F238E27FC236}">
                <a16:creationId xmlns:a16="http://schemas.microsoft.com/office/drawing/2014/main" id="{DE7CD71F-406B-4AF0-A117-C9CDE4CF1D38}"/>
              </a:ext>
            </a:extLst>
          </p:cNvPr>
          <p:cNvPicPr>
            <a:picLocks noChangeAspect="1"/>
          </p:cNvPicPr>
          <p:nvPr/>
        </p:nvPicPr>
        <p:blipFill>
          <a:blip r:embed="rId14">
            <a:clrChange>
              <a:clrFrom>
                <a:srgbClr val="FFFFFF"/>
              </a:clrFrom>
              <a:clrTo>
                <a:srgbClr val="FFFFFF">
                  <a:alpha val="0"/>
                </a:srgbClr>
              </a:clrTo>
            </a:clrChange>
            <a:duotone>
              <a:prstClr val="black"/>
              <a:schemeClr val="tx2">
                <a:tint val="45000"/>
                <a:satMod val="400000"/>
              </a:schemeClr>
            </a:duotone>
          </a:blip>
          <a:stretch>
            <a:fillRect/>
          </a:stretch>
        </p:blipFill>
        <p:spPr>
          <a:xfrm>
            <a:off x="39587138" y="-78070"/>
            <a:ext cx="4082452" cy="4082452"/>
          </a:xfrm>
          <a:prstGeom prst="rect">
            <a:avLst/>
          </a:prstGeom>
        </p:spPr>
      </p:pic>
      <p:sp>
        <p:nvSpPr>
          <p:cNvPr id="17" name="TextBox 16">
            <a:extLst>
              <a:ext uri="{FF2B5EF4-FFF2-40B4-BE49-F238E27FC236}">
                <a16:creationId xmlns:a16="http://schemas.microsoft.com/office/drawing/2014/main" id="{14F609AE-D31E-C8DF-2E68-13018FAF91DA}"/>
              </a:ext>
            </a:extLst>
          </p:cNvPr>
          <p:cNvSpPr txBox="1"/>
          <p:nvPr/>
        </p:nvSpPr>
        <p:spPr>
          <a:xfrm>
            <a:off x="39138320" y="3996896"/>
            <a:ext cx="4948899" cy="400110"/>
          </a:xfrm>
          <a:prstGeom prst="rect">
            <a:avLst/>
          </a:prstGeom>
          <a:noFill/>
        </p:spPr>
        <p:txBody>
          <a:bodyPr wrap="square">
            <a:spAutoFit/>
          </a:bodyPr>
          <a:lstStyle/>
          <a:p>
            <a:pPr algn="ctr"/>
            <a:r>
              <a:rPr lang="en-US" sz="2000" dirty="0">
                <a:solidFill>
                  <a:schemeClr val="bg1"/>
                </a:solidFill>
              </a:rPr>
              <a:t>Scan for report and dataset</a:t>
            </a:r>
          </a:p>
        </p:txBody>
      </p:sp>
      <p:sp>
        <p:nvSpPr>
          <p:cNvPr id="44" name="TextBox 43">
            <a:extLst>
              <a:ext uri="{FF2B5EF4-FFF2-40B4-BE49-F238E27FC236}">
                <a16:creationId xmlns:a16="http://schemas.microsoft.com/office/drawing/2014/main" id="{54DF6FB4-C2C6-16E9-B975-9EFFF28F6405}"/>
              </a:ext>
            </a:extLst>
          </p:cNvPr>
          <p:cNvSpPr txBox="1"/>
          <p:nvPr/>
        </p:nvSpPr>
        <p:spPr>
          <a:xfrm>
            <a:off x="878180" y="20078979"/>
            <a:ext cx="11089902" cy="584775"/>
          </a:xfrm>
          <a:prstGeom prst="rect">
            <a:avLst/>
          </a:prstGeom>
          <a:noFill/>
        </p:spPr>
        <p:txBody>
          <a:bodyPr wrap="square" rtlCol="0">
            <a:spAutoFit/>
          </a:bodyPr>
          <a:lstStyle/>
          <a:p>
            <a:r>
              <a:rPr lang="en-US" sz="3200" dirty="0">
                <a:ln w="0"/>
                <a:effectLst>
                  <a:outerShdw blurRad="38100" dist="19050" dir="2700000" algn="tl" rotWithShape="0">
                    <a:schemeClr val="dk1">
                      <a:alpha val="40000"/>
                    </a:schemeClr>
                  </a:outerShdw>
                </a:effectLst>
                <a:latin typeface="+mj-lt"/>
              </a:rPr>
              <a:t>Figure 2. Modeling framework </a:t>
            </a:r>
          </a:p>
        </p:txBody>
      </p:sp>
      <p:sp>
        <p:nvSpPr>
          <p:cNvPr id="46" name="TextBox 45">
            <a:extLst>
              <a:ext uri="{FF2B5EF4-FFF2-40B4-BE49-F238E27FC236}">
                <a16:creationId xmlns:a16="http://schemas.microsoft.com/office/drawing/2014/main" id="{EE05BA57-F5E9-3672-6701-C474A7156FE3}"/>
              </a:ext>
            </a:extLst>
          </p:cNvPr>
          <p:cNvSpPr txBox="1"/>
          <p:nvPr/>
        </p:nvSpPr>
        <p:spPr>
          <a:xfrm>
            <a:off x="2625762" y="32267252"/>
            <a:ext cx="11089902" cy="584775"/>
          </a:xfrm>
          <a:prstGeom prst="rect">
            <a:avLst/>
          </a:prstGeom>
          <a:noFill/>
        </p:spPr>
        <p:txBody>
          <a:bodyPr wrap="square" rtlCol="0">
            <a:spAutoFit/>
          </a:bodyPr>
          <a:lstStyle/>
          <a:p>
            <a:r>
              <a:rPr lang="en-US" sz="3200" dirty="0">
                <a:ln w="0"/>
                <a:effectLst>
                  <a:outerShdw blurRad="38100" dist="19050" dir="2700000" algn="tl" rotWithShape="0">
                    <a:schemeClr val="dk1">
                      <a:alpha val="40000"/>
                    </a:schemeClr>
                  </a:outerShdw>
                </a:effectLst>
                <a:latin typeface="+mj-lt"/>
              </a:rPr>
              <a:t>Figure 3. Transport modeling using ArcNLET</a:t>
            </a:r>
          </a:p>
        </p:txBody>
      </p:sp>
      <p:pic>
        <p:nvPicPr>
          <p:cNvPr id="1025" name="Picture 1024">
            <a:extLst>
              <a:ext uri="{FF2B5EF4-FFF2-40B4-BE49-F238E27FC236}">
                <a16:creationId xmlns:a16="http://schemas.microsoft.com/office/drawing/2014/main" id="{3B4D3369-FDB5-1D7F-0283-F093E83A4A98}"/>
              </a:ext>
            </a:extLst>
          </p:cNvPr>
          <p:cNvPicPr>
            <a:picLocks noChangeAspect="1"/>
          </p:cNvPicPr>
          <p:nvPr/>
        </p:nvPicPr>
        <p:blipFill>
          <a:blip r:embed="rId15"/>
          <a:stretch>
            <a:fillRect/>
          </a:stretch>
        </p:blipFill>
        <p:spPr>
          <a:xfrm>
            <a:off x="-731445" y="-258436"/>
            <a:ext cx="7008412" cy="4738350"/>
          </a:xfrm>
          <a:prstGeom prst="rect">
            <a:avLst/>
          </a:prstGeom>
        </p:spPr>
      </p:pic>
      <p:sp>
        <p:nvSpPr>
          <p:cNvPr id="12" name="Rectangle 11">
            <a:extLst>
              <a:ext uri="{FF2B5EF4-FFF2-40B4-BE49-F238E27FC236}">
                <a16:creationId xmlns:a16="http://schemas.microsoft.com/office/drawing/2014/main" id="{182DF90C-DDBD-38F9-858E-B9ABDE65833E}"/>
              </a:ext>
            </a:extLst>
          </p:cNvPr>
          <p:cNvSpPr/>
          <p:nvPr/>
        </p:nvSpPr>
        <p:spPr>
          <a:xfrm>
            <a:off x="4753914" y="-427765"/>
            <a:ext cx="35022485" cy="3363752"/>
          </a:xfrm>
          <a:prstGeom prst="rect">
            <a:avLst/>
          </a:prstGeom>
          <a:noFill/>
          <a:ln w="1905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bg1"/>
                </a:solidFill>
                <a:latin typeface="+mj-lt"/>
              </a:rPr>
              <a:t>Nitrogen Pollution Reduction in Lee County Surface Water and Groundwater Through the Replacement of Old Conventional Septic Systems with Aerobic Treatment Units</a:t>
            </a:r>
          </a:p>
        </p:txBody>
      </p:sp>
      <p:sp>
        <p:nvSpPr>
          <p:cNvPr id="1033" name="TextBox 1032">
            <a:extLst>
              <a:ext uri="{FF2B5EF4-FFF2-40B4-BE49-F238E27FC236}">
                <a16:creationId xmlns:a16="http://schemas.microsoft.com/office/drawing/2014/main" id="{A22453F3-B04C-3C4D-55B9-BB9061D2B28E}"/>
              </a:ext>
            </a:extLst>
          </p:cNvPr>
          <p:cNvSpPr txBox="1"/>
          <p:nvPr/>
        </p:nvSpPr>
        <p:spPr>
          <a:xfrm>
            <a:off x="-70566" y="2562023"/>
            <a:ext cx="44021260" cy="830997"/>
          </a:xfrm>
          <a:prstGeom prst="rect">
            <a:avLst/>
          </a:prstGeom>
          <a:noFill/>
        </p:spPr>
        <p:txBody>
          <a:bodyPr wrap="square">
            <a:spAutoFit/>
          </a:bodyPr>
          <a:lstStyle/>
          <a:p>
            <a:pPr algn="ctr"/>
            <a:r>
              <a:rPr lang="en-US" sz="4800" dirty="0">
                <a:solidFill>
                  <a:schemeClr val="bg1"/>
                </a:solidFill>
                <a:latin typeface="+mj-lt"/>
              </a:rPr>
              <a:t>Luke Richard Roides </a:t>
            </a:r>
          </a:p>
        </p:txBody>
      </p:sp>
      <p:sp>
        <p:nvSpPr>
          <p:cNvPr id="1035" name="TextBox 1034">
            <a:extLst>
              <a:ext uri="{FF2B5EF4-FFF2-40B4-BE49-F238E27FC236}">
                <a16:creationId xmlns:a16="http://schemas.microsoft.com/office/drawing/2014/main" id="{D0BB33CB-FD1B-058E-6266-B038823E9622}"/>
              </a:ext>
            </a:extLst>
          </p:cNvPr>
          <p:cNvSpPr txBox="1"/>
          <p:nvPr/>
        </p:nvSpPr>
        <p:spPr>
          <a:xfrm>
            <a:off x="15560874" y="22033671"/>
            <a:ext cx="6210864" cy="584775"/>
          </a:xfrm>
          <a:prstGeom prst="rect">
            <a:avLst/>
          </a:prstGeom>
          <a:noFill/>
        </p:spPr>
        <p:txBody>
          <a:bodyPr wrap="square" rtlCol="0">
            <a:spAutoFit/>
          </a:bodyPr>
          <a:lstStyle/>
          <a:p>
            <a:r>
              <a:rPr lang="en-US" sz="3200" dirty="0">
                <a:ln w="0"/>
                <a:effectLst>
                  <a:outerShdw blurRad="38100" dist="19050" dir="2700000" algn="tl" rotWithShape="0">
                    <a:schemeClr val="dk1">
                      <a:alpha val="40000"/>
                    </a:schemeClr>
                  </a:outerShdw>
                </a:effectLst>
                <a:latin typeface="+mj-lt"/>
              </a:rPr>
              <a:t>Figure 5. Study area</a:t>
            </a:r>
          </a:p>
        </p:txBody>
      </p:sp>
      <p:sp>
        <p:nvSpPr>
          <p:cNvPr id="60" name="Rectangle 59">
            <a:extLst>
              <a:ext uri="{FF2B5EF4-FFF2-40B4-BE49-F238E27FC236}">
                <a16:creationId xmlns:a16="http://schemas.microsoft.com/office/drawing/2014/main" id="{11C35F7F-C9EA-0C3E-2A62-AE33CD194F78}"/>
              </a:ext>
            </a:extLst>
          </p:cNvPr>
          <p:cNvSpPr/>
          <p:nvPr/>
        </p:nvSpPr>
        <p:spPr>
          <a:xfrm>
            <a:off x="12612858" y="30294910"/>
            <a:ext cx="2884458" cy="87088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38256382-2E24-A72D-BAF5-C5614B3C5F4E}"/>
              </a:ext>
            </a:extLst>
          </p:cNvPr>
          <p:cNvSpPr txBox="1"/>
          <p:nvPr/>
        </p:nvSpPr>
        <p:spPr>
          <a:xfrm>
            <a:off x="304800" y="6017037"/>
            <a:ext cx="14851073" cy="3970318"/>
          </a:xfrm>
          <a:prstGeom prst="rect">
            <a:avLst/>
          </a:prstGeom>
          <a:noFill/>
        </p:spPr>
        <p:txBody>
          <a:bodyPr wrap="square" rtlCol="0">
            <a:spAutoFit/>
          </a:bodyPr>
          <a:lstStyle/>
          <a:p>
            <a:r>
              <a:rPr lang="en-US" sz="3600" dirty="0"/>
              <a:t>• ~30% of Florida residents rely on septic systems, many of which are </a:t>
            </a:r>
            <a:r>
              <a:rPr lang="en-US" sz="3600" b="1" dirty="0"/>
              <a:t>aging     and poorly separated from the wet season water table</a:t>
            </a:r>
            <a:r>
              <a:rPr lang="en-US" sz="3600" dirty="0"/>
              <a:t>, allowing nitrogen to directly enter groundwater</a:t>
            </a:r>
          </a:p>
          <a:p>
            <a:r>
              <a:rPr lang="en-US" sz="3600" dirty="0"/>
              <a:t>• Elevated groundwater nitrogen contributes to </a:t>
            </a:r>
            <a:r>
              <a:rPr lang="en-US" sz="3600" b="1" dirty="0"/>
              <a:t>water quality degradation, eutrophication, and risks to public health</a:t>
            </a:r>
            <a:endParaRPr lang="en-US" sz="3600" dirty="0"/>
          </a:p>
          <a:p>
            <a:r>
              <a:rPr lang="en-US" sz="3600" dirty="0"/>
              <a:t>• This study evaluates whether </a:t>
            </a:r>
            <a:r>
              <a:rPr lang="en-US" sz="3600" b="1" dirty="0"/>
              <a:t>Aerobic Treatment Units (ATUs)</a:t>
            </a:r>
            <a:r>
              <a:rPr lang="en-US" sz="3600" dirty="0"/>
              <a:t> can reduce groundwater nitrogen concentrations.</a:t>
            </a:r>
          </a:p>
        </p:txBody>
      </p:sp>
      <p:sp>
        <p:nvSpPr>
          <p:cNvPr id="11" name="Rectangle 10">
            <a:extLst>
              <a:ext uri="{FF2B5EF4-FFF2-40B4-BE49-F238E27FC236}">
                <a16:creationId xmlns:a16="http://schemas.microsoft.com/office/drawing/2014/main" id="{1189AF10-3D85-97C9-1A98-68524E0389E5}"/>
              </a:ext>
            </a:extLst>
          </p:cNvPr>
          <p:cNvSpPr/>
          <p:nvPr/>
        </p:nvSpPr>
        <p:spPr>
          <a:xfrm>
            <a:off x="11968082" y="26139559"/>
            <a:ext cx="1525388" cy="114659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sp>
        <p:nvSpPr>
          <p:cNvPr id="15" name="Rectangle 14">
            <a:extLst>
              <a:ext uri="{FF2B5EF4-FFF2-40B4-BE49-F238E27FC236}">
                <a16:creationId xmlns:a16="http://schemas.microsoft.com/office/drawing/2014/main" id="{71A00F82-4A69-16B7-B4F2-3DA7D78082CE}"/>
              </a:ext>
            </a:extLst>
          </p:cNvPr>
          <p:cNvSpPr/>
          <p:nvPr/>
        </p:nvSpPr>
        <p:spPr>
          <a:xfrm>
            <a:off x="12510169" y="30406288"/>
            <a:ext cx="31135975" cy="2211949"/>
          </a:xfrm>
          <a:prstGeom prst="rect">
            <a:avLst/>
          </a:prstGeom>
          <a:solidFill>
            <a:schemeClr val="accent1">
              <a:lumMod val="40000"/>
              <a:lumOff val="60000"/>
            </a:schemeClr>
          </a:solidFill>
          <a:ln w="762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0" spc="150">
                <a:solidFill>
                  <a:schemeClr val="bg1"/>
                </a:solidFill>
                <a:latin typeface="Gill Sans Nova" panose="020B0602020104020203" pitchFamily="34" charset="0"/>
              </a:rPr>
              <a:t> </a:t>
            </a:r>
          </a:p>
        </p:txBody>
      </p:sp>
      <p:cxnSp>
        <p:nvCxnSpPr>
          <p:cNvPr id="18" name="Straight Connector 17">
            <a:extLst>
              <a:ext uri="{FF2B5EF4-FFF2-40B4-BE49-F238E27FC236}">
                <a16:creationId xmlns:a16="http://schemas.microsoft.com/office/drawing/2014/main" id="{CE7F48D6-3CEB-61CD-5943-A54D55DA30B6}"/>
              </a:ext>
            </a:extLst>
          </p:cNvPr>
          <p:cNvCxnSpPr>
            <a:cxnSpLocks/>
          </p:cNvCxnSpPr>
          <p:nvPr/>
        </p:nvCxnSpPr>
        <p:spPr>
          <a:xfrm flipV="1">
            <a:off x="9633490" y="26143369"/>
            <a:ext cx="3867782" cy="316288"/>
          </a:xfrm>
          <a:prstGeom prst="line">
            <a:avLst/>
          </a:prstGeom>
          <a:ln w="38100"/>
        </p:spPr>
        <p:style>
          <a:lnRef idx="1">
            <a:schemeClr val="dk1"/>
          </a:lnRef>
          <a:fillRef idx="0">
            <a:schemeClr val="dk1"/>
          </a:fillRef>
          <a:effectRef idx="0">
            <a:schemeClr val="dk1"/>
          </a:effectRef>
          <a:fontRef idx="minor">
            <a:schemeClr val="tx1"/>
          </a:fontRef>
        </p:style>
      </p:cxnSp>
      <p:pic>
        <p:nvPicPr>
          <p:cNvPr id="34" name="Picture 33" descr="APES CH 15 PT 2: Water Pollution Flashcards | Quizlet">
            <a:extLst>
              <a:ext uri="{FF2B5EF4-FFF2-40B4-BE49-F238E27FC236}">
                <a16:creationId xmlns:a16="http://schemas.microsoft.com/office/drawing/2014/main" id="{654A46ED-D473-8BCB-ACA4-54D303F7DE9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85954" y="17106587"/>
            <a:ext cx="2922487" cy="2157535"/>
          </a:xfrm>
          <a:prstGeom prst="roundRect">
            <a:avLst>
              <a:gd name="adj" fmla="val 12918"/>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37" name="Rectangle 36">
            <a:extLst>
              <a:ext uri="{FF2B5EF4-FFF2-40B4-BE49-F238E27FC236}">
                <a16:creationId xmlns:a16="http://schemas.microsoft.com/office/drawing/2014/main" id="{3DFE60B9-4445-138A-9689-02CCBED583C2}"/>
              </a:ext>
            </a:extLst>
          </p:cNvPr>
          <p:cNvSpPr/>
          <p:nvPr/>
        </p:nvSpPr>
        <p:spPr>
          <a:xfrm>
            <a:off x="14744065" y="17901285"/>
            <a:ext cx="361824" cy="304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EB31A92-ABA7-5714-AEFE-E0A3649677B3}"/>
              </a:ext>
            </a:extLst>
          </p:cNvPr>
          <p:cNvSpPr/>
          <p:nvPr/>
        </p:nvSpPr>
        <p:spPr>
          <a:xfrm>
            <a:off x="14390247" y="18014252"/>
            <a:ext cx="361824" cy="304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Arc 40">
            <a:extLst>
              <a:ext uri="{FF2B5EF4-FFF2-40B4-BE49-F238E27FC236}">
                <a16:creationId xmlns:a16="http://schemas.microsoft.com/office/drawing/2014/main" id="{706A3D8A-DC28-DA93-A0BB-3D7CCEC8440C}"/>
              </a:ext>
            </a:extLst>
          </p:cNvPr>
          <p:cNvSpPr/>
          <p:nvPr/>
        </p:nvSpPr>
        <p:spPr>
          <a:xfrm rot="7286277">
            <a:off x="14657323" y="17923797"/>
            <a:ext cx="152400" cy="45719"/>
          </a:xfrm>
          <a:prstGeom prst="arc">
            <a:avLst/>
          </a:prstGeom>
          <a:ln w="381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9" name="Straight Connector 48">
            <a:extLst>
              <a:ext uri="{FF2B5EF4-FFF2-40B4-BE49-F238E27FC236}">
                <a16:creationId xmlns:a16="http://schemas.microsoft.com/office/drawing/2014/main" id="{016D72C9-64AA-2E81-AC19-D747E25CDB71}"/>
              </a:ext>
            </a:extLst>
          </p:cNvPr>
          <p:cNvCxnSpPr>
            <a:cxnSpLocks/>
          </p:cNvCxnSpPr>
          <p:nvPr/>
        </p:nvCxnSpPr>
        <p:spPr>
          <a:xfrm flipH="1">
            <a:off x="14142720" y="18004155"/>
            <a:ext cx="56413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56" name="Picture 55">
            <a:extLst>
              <a:ext uri="{FF2B5EF4-FFF2-40B4-BE49-F238E27FC236}">
                <a16:creationId xmlns:a16="http://schemas.microsoft.com/office/drawing/2014/main" id="{1CA5D834-B0DA-0FE2-EA4C-C511CA4D2FBB}"/>
              </a:ext>
            </a:extLst>
          </p:cNvPr>
          <p:cNvPicPr>
            <a:picLocks noChangeAspect="1"/>
          </p:cNvPicPr>
          <p:nvPr/>
        </p:nvPicPr>
        <p:blipFill>
          <a:blip r:embed="rId17"/>
          <a:stretch>
            <a:fillRect/>
          </a:stretch>
        </p:blipFill>
        <p:spPr>
          <a:xfrm>
            <a:off x="14726920" y="17013714"/>
            <a:ext cx="309784" cy="1880076"/>
          </a:xfrm>
          <a:prstGeom prst="rect">
            <a:avLst/>
          </a:prstGeom>
        </p:spPr>
      </p:pic>
      <p:sp>
        <p:nvSpPr>
          <p:cNvPr id="61" name="Rectangle 60">
            <a:extLst>
              <a:ext uri="{FF2B5EF4-FFF2-40B4-BE49-F238E27FC236}">
                <a16:creationId xmlns:a16="http://schemas.microsoft.com/office/drawing/2014/main" id="{91103D1C-9227-ADB3-C31F-FC1B62C0D91D}"/>
              </a:ext>
            </a:extLst>
          </p:cNvPr>
          <p:cNvSpPr/>
          <p:nvPr/>
        </p:nvSpPr>
        <p:spPr>
          <a:xfrm>
            <a:off x="303153" y="4995848"/>
            <a:ext cx="14768551" cy="848625"/>
          </a:xfrm>
          <a:prstGeom prst="rect">
            <a:avLst/>
          </a:prstGeom>
          <a:solidFill>
            <a:schemeClr val="tx2"/>
          </a:solidFill>
          <a:ln w="762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spc="150">
                <a:solidFill>
                  <a:schemeClr val="bg1"/>
                </a:solidFill>
                <a:latin typeface="+mj-lt"/>
              </a:rPr>
              <a:t>Introduction</a:t>
            </a:r>
            <a:r>
              <a:rPr lang="en-US" sz="6000" spc="150">
                <a:solidFill>
                  <a:schemeClr val="bg1"/>
                </a:solidFill>
                <a:latin typeface="Gill Sans Nova" panose="020B0602020104020203" pitchFamily="34" charset="0"/>
              </a:rPr>
              <a:t> </a:t>
            </a:r>
          </a:p>
        </p:txBody>
      </p:sp>
      <p:sp>
        <p:nvSpPr>
          <p:cNvPr id="62" name="Rectangle 61">
            <a:extLst>
              <a:ext uri="{FF2B5EF4-FFF2-40B4-BE49-F238E27FC236}">
                <a16:creationId xmlns:a16="http://schemas.microsoft.com/office/drawing/2014/main" id="{BDF184F7-F68E-6A71-5DA7-51AD5B930AD9}"/>
              </a:ext>
            </a:extLst>
          </p:cNvPr>
          <p:cNvSpPr/>
          <p:nvPr/>
        </p:nvSpPr>
        <p:spPr>
          <a:xfrm>
            <a:off x="123923" y="4843448"/>
            <a:ext cx="15123269" cy="1152700"/>
          </a:xfrm>
          <a:prstGeom prst="rect">
            <a:avLst/>
          </a:prstGeom>
          <a:noFill/>
          <a:ln w="762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456C6C45-E0FA-1F1E-7484-CF1AA107D29D}"/>
              </a:ext>
            </a:extLst>
          </p:cNvPr>
          <p:cNvSpPr/>
          <p:nvPr/>
        </p:nvSpPr>
        <p:spPr>
          <a:xfrm>
            <a:off x="15534710" y="4995020"/>
            <a:ext cx="13394498" cy="848625"/>
          </a:xfrm>
          <a:prstGeom prst="rect">
            <a:avLst/>
          </a:prstGeom>
          <a:solidFill>
            <a:schemeClr val="tx2"/>
          </a:solidFill>
          <a:ln w="762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spc="150" dirty="0">
                <a:solidFill>
                  <a:schemeClr val="bg1"/>
                </a:solidFill>
                <a:latin typeface="+mj-lt"/>
              </a:rPr>
              <a:t>Scenario Design</a:t>
            </a:r>
          </a:p>
        </p:txBody>
      </p:sp>
      <p:sp>
        <p:nvSpPr>
          <p:cNvPr id="1029" name="Rectangle 1028">
            <a:extLst>
              <a:ext uri="{FF2B5EF4-FFF2-40B4-BE49-F238E27FC236}">
                <a16:creationId xmlns:a16="http://schemas.microsoft.com/office/drawing/2014/main" id="{4FA1D9D7-DE16-7451-AB26-143FDFDD4005}"/>
              </a:ext>
            </a:extLst>
          </p:cNvPr>
          <p:cNvSpPr/>
          <p:nvPr/>
        </p:nvSpPr>
        <p:spPr>
          <a:xfrm>
            <a:off x="15355479" y="4842620"/>
            <a:ext cx="13716213" cy="1152700"/>
          </a:xfrm>
          <a:prstGeom prst="rect">
            <a:avLst/>
          </a:prstGeom>
          <a:noFill/>
          <a:ln w="762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Rectangle 1029">
            <a:extLst>
              <a:ext uri="{FF2B5EF4-FFF2-40B4-BE49-F238E27FC236}">
                <a16:creationId xmlns:a16="http://schemas.microsoft.com/office/drawing/2014/main" id="{C0CABF0B-601D-E499-905D-C42038CA61F3}"/>
              </a:ext>
            </a:extLst>
          </p:cNvPr>
          <p:cNvSpPr/>
          <p:nvPr/>
        </p:nvSpPr>
        <p:spPr>
          <a:xfrm>
            <a:off x="29384433" y="4995020"/>
            <a:ext cx="14261711" cy="848625"/>
          </a:xfrm>
          <a:prstGeom prst="rect">
            <a:avLst/>
          </a:prstGeom>
          <a:solidFill>
            <a:schemeClr val="tx2"/>
          </a:solidFill>
          <a:ln w="762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spc="150">
                <a:solidFill>
                  <a:schemeClr val="bg1"/>
                </a:solidFill>
                <a:latin typeface="+mj-lt"/>
              </a:rPr>
              <a:t>Results and Discussion (Continued)</a:t>
            </a:r>
          </a:p>
        </p:txBody>
      </p:sp>
      <p:sp>
        <p:nvSpPr>
          <p:cNvPr id="1032" name="Rectangle 1031">
            <a:extLst>
              <a:ext uri="{FF2B5EF4-FFF2-40B4-BE49-F238E27FC236}">
                <a16:creationId xmlns:a16="http://schemas.microsoft.com/office/drawing/2014/main" id="{34C981C3-4616-E348-03D2-0EF303E58694}"/>
              </a:ext>
            </a:extLst>
          </p:cNvPr>
          <p:cNvSpPr/>
          <p:nvPr/>
        </p:nvSpPr>
        <p:spPr>
          <a:xfrm>
            <a:off x="29250923" y="4842620"/>
            <a:ext cx="14516354" cy="1152700"/>
          </a:xfrm>
          <a:prstGeom prst="rect">
            <a:avLst/>
          </a:prstGeom>
          <a:noFill/>
          <a:ln w="762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6" name="Rectangle 1035">
            <a:extLst>
              <a:ext uri="{FF2B5EF4-FFF2-40B4-BE49-F238E27FC236}">
                <a16:creationId xmlns:a16="http://schemas.microsoft.com/office/drawing/2014/main" id="{E1046E69-CC4D-9B6D-7FCB-B59CAE9D3FFF}"/>
              </a:ext>
            </a:extLst>
          </p:cNvPr>
          <p:cNvSpPr/>
          <p:nvPr/>
        </p:nvSpPr>
        <p:spPr>
          <a:xfrm>
            <a:off x="303152" y="14197102"/>
            <a:ext cx="14768551" cy="848625"/>
          </a:xfrm>
          <a:prstGeom prst="rect">
            <a:avLst/>
          </a:prstGeom>
          <a:solidFill>
            <a:schemeClr val="tx2"/>
          </a:solidFill>
          <a:ln w="762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spc="150">
                <a:solidFill>
                  <a:schemeClr val="bg1"/>
                </a:solidFill>
                <a:latin typeface="+mj-lt"/>
              </a:rPr>
              <a:t>Methods</a:t>
            </a:r>
          </a:p>
        </p:txBody>
      </p:sp>
      <p:sp>
        <p:nvSpPr>
          <p:cNvPr id="1037" name="Rectangle 1036">
            <a:extLst>
              <a:ext uri="{FF2B5EF4-FFF2-40B4-BE49-F238E27FC236}">
                <a16:creationId xmlns:a16="http://schemas.microsoft.com/office/drawing/2014/main" id="{CCEF6CE4-6300-50E6-105E-513B95922F2D}"/>
              </a:ext>
            </a:extLst>
          </p:cNvPr>
          <p:cNvSpPr/>
          <p:nvPr/>
        </p:nvSpPr>
        <p:spPr>
          <a:xfrm>
            <a:off x="112122" y="14044702"/>
            <a:ext cx="15123268" cy="1152700"/>
          </a:xfrm>
          <a:prstGeom prst="rect">
            <a:avLst/>
          </a:prstGeom>
          <a:noFill/>
          <a:ln w="762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Rectangle 1037">
            <a:extLst>
              <a:ext uri="{FF2B5EF4-FFF2-40B4-BE49-F238E27FC236}">
                <a16:creationId xmlns:a16="http://schemas.microsoft.com/office/drawing/2014/main" id="{68689B39-491D-0DF9-2F79-B5A9030CBA41}"/>
              </a:ext>
            </a:extLst>
          </p:cNvPr>
          <p:cNvSpPr/>
          <p:nvPr/>
        </p:nvSpPr>
        <p:spPr>
          <a:xfrm>
            <a:off x="15725740" y="12829207"/>
            <a:ext cx="13219471" cy="848625"/>
          </a:xfrm>
          <a:prstGeom prst="rect">
            <a:avLst/>
          </a:prstGeom>
          <a:solidFill>
            <a:schemeClr val="tx2"/>
          </a:solidFill>
          <a:ln w="762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spc="150">
                <a:solidFill>
                  <a:schemeClr val="bg1"/>
                </a:solidFill>
                <a:latin typeface="+mj-lt"/>
              </a:rPr>
              <a:t>Study Area</a:t>
            </a:r>
          </a:p>
        </p:txBody>
      </p:sp>
      <p:sp>
        <p:nvSpPr>
          <p:cNvPr id="1039" name="Rectangle 1038">
            <a:extLst>
              <a:ext uri="{FF2B5EF4-FFF2-40B4-BE49-F238E27FC236}">
                <a16:creationId xmlns:a16="http://schemas.microsoft.com/office/drawing/2014/main" id="{AA2B422B-A894-9C68-BC83-69F42E4570C9}"/>
              </a:ext>
            </a:extLst>
          </p:cNvPr>
          <p:cNvSpPr/>
          <p:nvPr/>
        </p:nvSpPr>
        <p:spPr>
          <a:xfrm>
            <a:off x="15534710" y="12676807"/>
            <a:ext cx="13536982" cy="1152700"/>
          </a:xfrm>
          <a:prstGeom prst="rect">
            <a:avLst/>
          </a:prstGeom>
          <a:noFill/>
          <a:ln w="762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Rectangle 1039">
            <a:extLst>
              <a:ext uri="{FF2B5EF4-FFF2-40B4-BE49-F238E27FC236}">
                <a16:creationId xmlns:a16="http://schemas.microsoft.com/office/drawing/2014/main" id="{ADB21A9F-414D-387F-1519-E9139C08DD54}"/>
              </a:ext>
            </a:extLst>
          </p:cNvPr>
          <p:cNvSpPr/>
          <p:nvPr/>
        </p:nvSpPr>
        <p:spPr>
          <a:xfrm>
            <a:off x="12587070" y="30472128"/>
            <a:ext cx="3427649" cy="1994068"/>
          </a:xfrm>
          <a:prstGeom prst="rect">
            <a:avLst/>
          </a:prstGeom>
          <a:solidFill>
            <a:srgbClr val="00488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0" spc="150">
                <a:solidFill>
                  <a:schemeClr val="bg1"/>
                </a:solidFill>
                <a:latin typeface="Gill Sans Nova" panose="020B0602020104020203" pitchFamily="34" charset="0"/>
              </a:rPr>
              <a:t>Conclusion</a:t>
            </a:r>
          </a:p>
        </p:txBody>
      </p:sp>
      <p:sp>
        <p:nvSpPr>
          <p:cNvPr id="55" name="TextBox 54">
            <a:extLst>
              <a:ext uri="{FF2B5EF4-FFF2-40B4-BE49-F238E27FC236}">
                <a16:creationId xmlns:a16="http://schemas.microsoft.com/office/drawing/2014/main" id="{A0D92B1D-7DB2-F1DC-8E16-936956D5C587}"/>
              </a:ext>
            </a:extLst>
          </p:cNvPr>
          <p:cNvSpPr txBox="1"/>
          <p:nvPr/>
        </p:nvSpPr>
        <p:spPr>
          <a:xfrm>
            <a:off x="16167997" y="30653226"/>
            <a:ext cx="27629419" cy="1661993"/>
          </a:xfrm>
          <a:prstGeom prst="rect">
            <a:avLst/>
          </a:prstGeom>
          <a:noFill/>
        </p:spPr>
        <p:txBody>
          <a:bodyPr wrap="square" rtlCol="0">
            <a:spAutoFit/>
          </a:bodyPr>
          <a:lstStyle/>
          <a:p>
            <a:r>
              <a:rPr lang="en-US" sz="3400" dirty="0"/>
              <a:t>• Conventional septic systems produce </a:t>
            </a:r>
            <a:r>
              <a:rPr lang="en-US" sz="3400" b="1" dirty="0"/>
              <a:t>higher</a:t>
            </a:r>
            <a:r>
              <a:rPr lang="en-US" sz="3400" dirty="0"/>
              <a:t> and more extensive groundwater nitrogen plumes, while ATU systems </a:t>
            </a:r>
            <a:r>
              <a:rPr lang="en-US" sz="3400" b="1" dirty="0"/>
              <a:t>significantly reduce concentrations</a:t>
            </a:r>
          </a:p>
          <a:p>
            <a:r>
              <a:rPr lang="en-US" sz="3400" dirty="0"/>
              <a:t>• ATU conversion shifts the </a:t>
            </a:r>
            <a:r>
              <a:rPr lang="en-US" sz="3400" b="1" dirty="0"/>
              <a:t>entire distribution </a:t>
            </a:r>
            <a:r>
              <a:rPr lang="en-US" sz="3400" dirty="0"/>
              <a:t>of groundwater nitrogen </a:t>
            </a:r>
            <a:r>
              <a:rPr lang="en-US" sz="3400" b="1" dirty="0"/>
              <a:t>downward</a:t>
            </a:r>
            <a:r>
              <a:rPr lang="en-US" sz="3400" dirty="0"/>
              <a:t>, resulting in substantially fewer exceedances of drinking water standards</a:t>
            </a:r>
          </a:p>
          <a:p>
            <a:r>
              <a:rPr lang="en-US" sz="3400" dirty="0"/>
              <a:t>• ATUs provide a measurable and effective strategy for improving groundwater quality in regions reliant on onsite wastewater treatment</a:t>
            </a:r>
          </a:p>
        </p:txBody>
      </p:sp>
      <p:sp>
        <p:nvSpPr>
          <p:cNvPr id="1041" name="Rectangle 1040">
            <a:extLst>
              <a:ext uri="{FF2B5EF4-FFF2-40B4-BE49-F238E27FC236}">
                <a16:creationId xmlns:a16="http://schemas.microsoft.com/office/drawing/2014/main" id="{BA2A9F78-2CFC-ECF2-31E2-D27A9627E2B3}"/>
              </a:ext>
            </a:extLst>
          </p:cNvPr>
          <p:cNvSpPr/>
          <p:nvPr/>
        </p:nvSpPr>
        <p:spPr>
          <a:xfrm>
            <a:off x="14865305" y="23072421"/>
            <a:ext cx="28292331" cy="720433"/>
          </a:xfrm>
          <a:prstGeom prst="rect">
            <a:avLst/>
          </a:prstGeom>
          <a:solidFill>
            <a:schemeClr val="tx2"/>
          </a:solidFill>
          <a:ln w="762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spc="150">
                <a:solidFill>
                  <a:schemeClr val="bg1"/>
                </a:solidFill>
                <a:latin typeface="+mj-lt"/>
              </a:rPr>
              <a:t>Results and Discussion</a:t>
            </a:r>
          </a:p>
        </p:txBody>
      </p:sp>
      <p:sp>
        <p:nvSpPr>
          <p:cNvPr id="1043" name="Rectangle 1042">
            <a:extLst>
              <a:ext uri="{FF2B5EF4-FFF2-40B4-BE49-F238E27FC236}">
                <a16:creationId xmlns:a16="http://schemas.microsoft.com/office/drawing/2014/main" id="{297CB078-9392-9242-7ABA-00CF047E739D}"/>
              </a:ext>
            </a:extLst>
          </p:cNvPr>
          <p:cNvSpPr/>
          <p:nvPr/>
        </p:nvSpPr>
        <p:spPr>
          <a:xfrm>
            <a:off x="14674275" y="22935262"/>
            <a:ext cx="28671742" cy="1007170"/>
          </a:xfrm>
          <a:prstGeom prst="rect">
            <a:avLst/>
          </a:prstGeom>
          <a:noFill/>
          <a:ln w="762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56" name="Picture 1055">
            <a:extLst>
              <a:ext uri="{FF2B5EF4-FFF2-40B4-BE49-F238E27FC236}">
                <a16:creationId xmlns:a16="http://schemas.microsoft.com/office/drawing/2014/main" id="{A6035C20-25B4-D444-A3E0-749F0C3134EC}"/>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31225620" y="6174889"/>
            <a:ext cx="11846253" cy="6161069"/>
          </a:xfrm>
          <a:prstGeom prst="rect">
            <a:avLst/>
          </a:prstGeom>
        </p:spPr>
      </p:pic>
      <p:sp>
        <p:nvSpPr>
          <p:cNvPr id="1062" name="TextBox 1061">
            <a:extLst>
              <a:ext uri="{FF2B5EF4-FFF2-40B4-BE49-F238E27FC236}">
                <a16:creationId xmlns:a16="http://schemas.microsoft.com/office/drawing/2014/main" id="{A910E800-710B-99DD-6FD0-0F226F98B9F7}"/>
              </a:ext>
            </a:extLst>
          </p:cNvPr>
          <p:cNvSpPr txBox="1"/>
          <p:nvPr/>
        </p:nvSpPr>
        <p:spPr>
          <a:xfrm>
            <a:off x="6442" y="3568222"/>
            <a:ext cx="43910220" cy="646331"/>
          </a:xfrm>
          <a:prstGeom prst="rect">
            <a:avLst/>
          </a:prstGeom>
          <a:noFill/>
        </p:spPr>
        <p:txBody>
          <a:bodyPr wrap="square">
            <a:spAutoFit/>
          </a:bodyPr>
          <a:lstStyle/>
          <a:p>
            <a:pPr algn="ctr"/>
            <a:r>
              <a:rPr lang="en-US" sz="3600" spc="100" dirty="0">
                <a:solidFill>
                  <a:schemeClr val="bg1"/>
                </a:solidFill>
                <a:latin typeface="+mj-lt"/>
              </a:rPr>
              <a:t>Masters in Civil Engineering  | Sustainable Water Engineering | Faculty Advisor: Dr. Ahmed </a:t>
            </a:r>
            <a:r>
              <a:rPr lang="en-US" sz="3600" spc="100" dirty="0" err="1">
                <a:solidFill>
                  <a:schemeClr val="bg1"/>
                </a:solidFill>
                <a:latin typeface="+mj-lt"/>
              </a:rPr>
              <a:t>Elshall</a:t>
            </a:r>
            <a:r>
              <a:rPr lang="en-US" sz="3600" spc="100" dirty="0">
                <a:solidFill>
                  <a:schemeClr val="bg1"/>
                </a:solidFill>
                <a:latin typeface="+mj-lt"/>
              </a:rPr>
              <a:t>  </a:t>
            </a:r>
          </a:p>
        </p:txBody>
      </p:sp>
      <p:sp>
        <p:nvSpPr>
          <p:cNvPr id="1063" name="TextBox 1062">
            <a:extLst>
              <a:ext uri="{FF2B5EF4-FFF2-40B4-BE49-F238E27FC236}">
                <a16:creationId xmlns:a16="http://schemas.microsoft.com/office/drawing/2014/main" id="{62FC1CEC-E0E3-C342-FD45-600C20961748}"/>
              </a:ext>
            </a:extLst>
          </p:cNvPr>
          <p:cNvSpPr txBox="1"/>
          <p:nvPr/>
        </p:nvSpPr>
        <p:spPr>
          <a:xfrm>
            <a:off x="3077756" y="13547440"/>
            <a:ext cx="9063088" cy="523220"/>
          </a:xfrm>
          <a:prstGeom prst="rect">
            <a:avLst/>
          </a:prstGeom>
          <a:noFill/>
        </p:spPr>
        <p:txBody>
          <a:bodyPr wrap="square" rtlCol="0">
            <a:spAutoFit/>
          </a:bodyPr>
          <a:lstStyle/>
          <a:p>
            <a:r>
              <a:rPr lang="en-US" sz="2800">
                <a:ln w="0"/>
                <a:latin typeface="+mj-lt"/>
              </a:rPr>
              <a:t>Figure 1. Conventional and ATU septic tank</a:t>
            </a:r>
          </a:p>
        </p:txBody>
      </p:sp>
      <p:sp>
        <p:nvSpPr>
          <p:cNvPr id="1064" name="TextBox 1063">
            <a:extLst>
              <a:ext uri="{FF2B5EF4-FFF2-40B4-BE49-F238E27FC236}">
                <a16:creationId xmlns:a16="http://schemas.microsoft.com/office/drawing/2014/main" id="{B6142C61-A2A0-8C09-F65A-1F71BB638FF3}"/>
              </a:ext>
            </a:extLst>
          </p:cNvPr>
          <p:cNvSpPr txBox="1"/>
          <p:nvPr/>
        </p:nvSpPr>
        <p:spPr>
          <a:xfrm>
            <a:off x="22119464" y="22011028"/>
            <a:ext cx="7903963" cy="584775"/>
          </a:xfrm>
          <a:prstGeom prst="rect">
            <a:avLst/>
          </a:prstGeom>
          <a:noFill/>
        </p:spPr>
        <p:txBody>
          <a:bodyPr wrap="square" rtlCol="0">
            <a:spAutoFit/>
          </a:bodyPr>
          <a:lstStyle/>
          <a:p>
            <a:r>
              <a:rPr lang="en-US" sz="3200" dirty="0">
                <a:ln w="0"/>
                <a:effectLst>
                  <a:outerShdw blurRad="38100" dist="19050" dir="2700000" algn="tl" rotWithShape="0">
                    <a:schemeClr val="dk1">
                      <a:alpha val="40000"/>
                    </a:schemeClr>
                  </a:outerShdw>
                </a:effectLst>
                <a:latin typeface="+mj-lt"/>
              </a:rPr>
              <a:t>Figure 6. Stroud Creek TN sampling data </a:t>
            </a:r>
          </a:p>
        </p:txBody>
      </p:sp>
      <p:pic>
        <p:nvPicPr>
          <p:cNvPr id="1068" name="Picture 1067">
            <a:extLst>
              <a:ext uri="{FF2B5EF4-FFF2-40B4-BE49-F238E27FC236}">
                <a16:creationId xmlns:a16="http://schemas.microsoft.com/office/drawing/2014/main" id="{AB28DDE6-F0EA-DCD7-4896-B2495742ECCF}"/>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31274682" y="12462296"/>
            <a:ext cx="12480110" cy="5052048"/>
          </a:xfrm>
          <a:prstGeom prst="rect">
            <a:avLst/>
          </a:prstGeom>
        </p:spPr>
      </p:pic>
      <p:pic>
        <p:nvPicPr>
          <p:cNvPr id="1074" name="Picture 1073">
            <a:extLst>
              <a:ext uri="{FF2B5EF4-FFF2-40B4-BE49-F238E27FC236}">
                <a16:creationId xmlns:a16="http://schemas.microsoft.com/office/drawing/2014/main" id="{F7C317BF-82F9-BA62-C683-550E32C069A6}"/>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29690379" y="17716447"/>
            <a:ext cx="9637713" cy="4355354"/>
          </a:xfrm>
          <a:prstGeom prst="rect">
            <a:avLst/>
          </a:prstGeom>
        </p:spPr>
      </p:pic>
      <p:pic>
        <p:nvPicPr>
          <p:cNvPr id="1075" name="Picture 1074">
            <a:extLst>
              <a:ext uri="{FF2B5EF4-FFF2-40B4-BE49-F238E27FC236}">
                <a16:creationId xmlns:a16="http://schemas.microsoft.com/office/drawing/2014/main" id="{D19E92E9-71B5-B1E0-7CA8-EA9F897E9A1F}"/>
              </a:ext>
            </a:extLst>
          </p:cNvPr>
          <p:cNvPicPr>
            <a:picLocks noChangeAspect="1"/>
          </p:cNvPicPr>
          <p:nvPr/>
        </p:nvPicPr>
        <p:blipFill>
          <a:blip r:embed="rId21" cstate="print">
            <a:extLst>
              <a:ext uri="{28A0092B-C50C-407E-A947-70E740481C1C}">
                <a14:useLocalDpi xmlns:a14="http://schemas.microsoft.com/office/drawing/2010/main" val="0"/>
              </a:ext>
            </a:extLst>
          </a:blip>
          <a:srcRect l="13486" t="30050" r="53794" b="21827"/>
          <a:stretch>
            <a:fillRect/>
          </a:stretch>
        </p:blipFill>
        <p:spPr>
          <a:xfrm>
            <a:off x="39445841" y="17199347"/>
            <a:ext cx="4013318" cy="2613141"/>
          </a:xfrm>
          <a:prstGeom prst="rect">
            <a:avLst/>
          </a:prstGeom>
        </p:spPr>
      </p:pic>
      <p:pic>
        <p:nvPicPr>
          <p:cNvPr id="36" name="Picture 35">
            <a:extLst>
              <a:ext uri="{FF2B5EF4-FFF2-40B4-BE49-F238E27FC236}">
                <a16:creationId xmlns:a16="http://schemas.microsoft.com/office/drawing/2014/main" id="{8AE0C9F7-7509-ED9A-4F0B-6239FC3A717E}"/>
              </a:ext>
            </a:extLst>
          </p:cNvPr>
          <p:cNvPicPr>
            <a:picLocks noChangeAspect="1"/>
          </p:cNvPicPr>
          <p:nvPr/>
        </p:nvPicPr>
        <p:blipFill>
          <a:blip r:embed="rId21" cstate="print">
            <a:extLst>
              <a:ext uri="{28A0092B-C50C-407E-A947-70E740481C1C}">
                <a14:useLocalDpi xmlns:a14="http://schemas.microsoft.com/office/drawing/2010/main" val="0"/>
              </a:ext>
            </a:extLst>
          </a:blip>
          <a:srcRect l="56150" t="30050" r="11659" b="21827"/>
          <a:stretch>
            <a:fillRect/>
          </a:stretch>
        </p:blipFill>
        <p:spPr>
          <a:xfrm>
            <a:off x="39315067" y="19812488"/>
            <a:ext cx="4127821" cy="2731912"/>
          </a:xfrm>
          <a:prstGeom prst="rect">
            <a:avLst/>
          </a:prstGeom>
        </p:spPr>
      </p:pic>
      <p:sp>
        <p:nvSpPr>
          <p:cNvPr id="1076" name="Rectangle 1075">
            <a:extLst>
              <a:ext uri="{FF2B5EF4-FFF2-40B4-BE49-F238E27FC236}">
                <a16:creationId xmlns:a16="http://schemas.microsoft.com/office/drawing/2014/main" id="{D21A5E06-676D-D933-9D3A-BB49829F9192}"/>
              </a:ext>
            </a:extLst>
          </p:cNvPr>
          <p:cNvSpPr/>
          <p:nvPr/>
        </p:nvSpPr>
        <p:spPr>
          <a:xfrm>
            <a:off x="12360812" y="30280155"/>
            <a:ext cx="31410392" cy="2463985"/>
          </a:xfrm>
          <a:prstGeom prst="rect">
            <a:avLst/>
          </a:prstGeom>
          <a:noFill/>
          <a:ln w="762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3B984B5-A75D-43A5-A04E-4820F35C7612}"/>
              </a:ext>
            </a:extLst>
          </p:cNvPr>
          <p:cNvSpPr txBox="1"/>
          <p:nvPr/>
        </p:nvSpPr>
        <p:spPr>
          <a:xfrm>
            <a:off x="286945" y="15678150"/>
            <a:ext cx="3751655" cy="707886"/>
          </a:xfrm>
          <a:prstGeom prst="rect">
            <a:avLst/>
          </a:prstGeom>
          <a:solidFill>
            <a:srgbClr val="FFFFFF"/>
          </a:solidFill>
        </p:spPr>
        <p:txBody>
          <a:bodyPr wrap="square" rtlCol="0">
            <a:spAutoFit/>
          </a:bodyPr>
          <a:lstStyle/>
          <a:p>
            <a:r>
              <a:rPr lang="en-US" sz="4000" b="1" dirty="0"/>
              <a:t>Septic Systems   </a:t>
            </a:r>
          </a:p>
        </p:txBody>
      </p:sp>
      <p:sp>
        <p:nvSpPr>
          <p:cNvPr id="14" name="TextBox 13">
            <a:extLst>
              <a:ext uri="{FF2B5EF4-FFF2-40B4-BE49-F238E27FC236}">
                <a16:creationId xmlns:a16="http://schemas.microsoft.com/office/drawing/2014/main" id="{28E71DE9-7510-940E-A2D1-80FB3D21BF1B}"/>
              </a:ext>
            </a:extLst>
          </p:cNvPr>
          <p:cNvSpPr txBox="1"/>
          <p:nvPr/>
        </p:nvSpPr>
        <p:spPr>
          <a:xfrm>
            <a:off x="4162645" y="15694164"/>
            <a:ext cx="3751655" cy="707886"/>
          </a:xfrm>
          <a:prstGeom prst="rect">
            <a:avLst/>
          </a:prstGeom>
          <a:solidFill>
            <a:srgbClr val="FFFFFF"/>
          </a:solidFill>
        </p:spPr>
        <p:txBody>
          <a:bodyPr wrap="square" rtlCol="0">
            <a:spAutoFit/>
          </a:bodyPr>
          <a:lstStyle/>
          <a:p>
            <a:r>
              <a:rPr lang="en-US" sz="4000" b="1" dirty="0"/>
              <a:t>ArcNLET Model</a:t>
            </a:r>
          </a:p>
        </p:txBody>
      </p:sp>
      <p:sp>
        <p:nvSpPr>
          <p:cNvPr id="16" name="TextBox 15">
            <a:extLst>
              <a:ext uri="{FF2B5EF4-FFF2-40B4-BE49-F238E27FC236}">
                <a16:creationId xmlns:a16="http://schemas.microsoft.com/office/drawing/2014/main" id="{C4C0D881-954B-EF7C-F17A-3E6501110D52}"/>
              </a:ext>
            </a:extLst>
          </p:cNvPr>
          <p:cNvSpPr txBox="1"/>
          <p:nvPr/>
        </p:nvSpPr>
        <p:spPr>
          <a:xfrm>
            <a:off x="8183103" y="15692760"/>
            <a:ext cx="3751655" cy="707886"/>
          </a:xfrm>
          <a:prstGeom prst="rect">
            <a:avLst/>
          </a:prstGeom>
          <a:solidFill>
            <a:srgbClr val="FFFFFF"/>
          </a:solidFill>
        </p:spPr>
        <p:txBody>
          <a:bodyPr wrap="square" rtlCol="0">
            <a:spAutoFit/>
          </a:bodyPr>
          <a:lstStyle/>
          <a:p>
            <a:r>
              <a:rPr lang="en-US" sz="4000" b="1" dirty="0"/>
              <a:t>Plume Raster</a:t>
            </a:r>
          </a:p>
        </p:txBody>
      </p:sp>
      <p:sp>
        <p:nvSpPr>
          <p:cNvPr id="19" name="TextBox 18">
            <a:extLst>
              <a:ext uri="{FF2B5EF4-FFF2-40B4-BE49-F238E27FC236}">
                <a16:creationId xmlns:a16="http://schemas.microsoft.com/office/drawing/2014/main" id="{39A8C115-836D-A5EC-9831-E2DE4406AAA5}"/>
              </a:ext>
            </a:extLst>
          </p:cNvPr>
          <p:cNvSpPr txBox="1"/>
          <p:nvPr/>
        </p:nvSpPr>
        <p:spPr>
          <a:xfrm>
            <a:off x="11295996" y="15694664"/>
            <a:ext cx="4403439" cy="707886"/>
          </a:xfrm>
          <a:prstGeom prst="rect">
            <a:avLst/>
          </a:prstGeom>
          <a:solidFill>
            <a:srgbClr val="FFFFFF"/>
          </a:solidFill>
        </p:spPr>
        <p:txBody>
          <a:bodyPr wrap="square" rtlCol="0">
            <a:spAutoFit/>
          </a:bodyPr>
          <a:lstStyle/>
          <a:p>
            <a:r>
              <a:rPr lang="en-US" sz="4000" b="1" dirty="0"/>
              <a:t>TN Quantification </a:t>
            </a:r>
          </a:p>
        </p:txBody>
      </p:sp>
      <p:pic>
        <p:nvPicPr>
          <p:cNvPr id="33" name="Picture 32">
            <a:extLst>
              <a:ext uri="{FF2B5EF4-FFF2-40B4-BE49-F238E27FC236}">
                <a16:creationId xmlns:a16="http://schemas.microsoft.com/office/drawing/2014/main" id="{8EF2D0FB-DD16-1F0A-A415-F0CE03C5BCED}"/>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5572990" y="14020800"/>
            <a:ext cx="5774780" cy="78638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380E90EC7256F4AB61A6A681C571661" ma:contentTypeVersion="13" ma:contentTypeDescription="Create a new document." ma:contentTypeScope="" ma:versionID="3635f8b63f8b656ee14162665dbc964b">
  <xsd:schema xmlns:xsd="http://www.w3.org/2001/XMLSchema" xmlns:xs="http://www.w3.org/2001/XMLSchema" xmlns:p="http://schemas.microsoft.com/office/2006/metadata/properties" xmlns:ns2="3774ffa0-7509-4bfc-b893-00b92eb9f179" xmlns:ns3="49d8e85c-995a-46bc-909d-cad58d4d7677" targetNamespace="http://schemas.microsoft.com/office/2006/metadata/properties" ma:root="true" ma:fieldsID="78723e27f32496ab295c2bc981abb436" ns2:_="" ns3:_="">
    <xsd:import namespace="3774ffa0-7509-4bfc-b893-00b92eb9f179"/>
    <xsd:import namespace="49d8e85c-995a-46bc-909d-cad58d4d767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74ffa0-7509-4bfc-b893-00b92eb9f17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69b37691-d71c-4b9c-8b1c-cc7297b7a28d"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9d8e85c-995a-46bc-909d-cad58d4d76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049865-55c8-40b3-86cc-c0cc722864ef}" ma:internalName="TaxCatchAll" ma:showField="CatchAllData" ma:web="49d8e85c-995a-46bc-909d-cad58d4d76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774ffa0-7509-4bfc-b893-00b92eb9f179">
      <Terms xmlns="http://schemas.microsoft.com/office/infopath/2007/PartnerControls"/>
    </lcf76f155ced4ddcb4097134ff3c332f>
    <TaxCatchAll xmlns="49d8e85c-995a-46bc-909d-cad58d4d7677" xsi:nil="true"/>
  </documentManagement>
</p:properties>
</file>

<file path=customXml/itemProps1.xml><?xml version="1.0" encoding="utf-8"?>
<ds:datastoreItem xmlns:ds="http://schemas.openxmlformats.org/officeDocument/2006/customXml" ds:itemID="{111E32F4-EE6D-4B6F-803C-A8FEC9E1B3DD}">
  <ds:schemaRefs>
    <ds:schemaRef ds:uri="http://schemas.microsoft.com/sharepoint/v3/contenttype/forms"/>
  </ds:schemaRefs>
</ds:datastoreItem>
</file>

<file path=customXml/itemProps2.xml><?xml version="1.0" encoding="utf-8"?>
<ds:datastoreItem xmlns:ds="http://schemas.openxmlformats.org/officeDocument/2006/customXml" ds:itemID="{588985ED-47EF-4F48-9C94-1FC18200E8B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74ffa0-7509-4bfc-b893-00b92eb9f179"/>
    <ds:schemaRef ds:uri="49d8e85c-995a-46bc-909d-cad58d4d76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E2413C3-DEE9-46FD-A706-0275B2C2EFBD}">
  <ds:schemaRefs>
    <ds:schemaRef ds:uri="49d8e85c-995a-46bc-909d-cad58d4d7677"/>
    <ds:schemaRef ds:uri="http://www.w3.org/XML/1998/namespace"/>
    <ds:schemaRef ds:uri="http://schemas.microsoft.com/office/2006/documentManagement/types"/>
    <ds:schemaRef ds:uri="http://purl.org/dc/terms/"/>
    <ds:schemaRef ds:uri="http://purl.org/dc/dcmitype/"/>
    <ds:schemaRef ds:uri="http://purl.org/dc/elements/1.1/"/>
    <ds:schemaRef ds:uri="http://schemas.microsoft.com/office/infopath/2007/PartnerControls"/>
    <ds:schemaRef ds:uri="http://schemas.openxmlformats.org/package/2006/metadata/core-properties"/>
    <ds:schemaRef ds:uri="3774ffa0-7509-4bfc-b893-00b92eb9f179"/>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8369</TotalTime>
  <Words>519</Words>
  <Application>Microsoft Office PowerPoint</Application>
  <PresentationFormat>Custom</PresentationFormat>
  <Paragraphs>43</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Calibri</vt:lpstr>
      <vt:lpstr>Gill Sans Nova</vt:lpstr>
      <vt:lpstr>Office Theme</vt:lpstr>
      <vt:lpstr>PowerPoint Presentation</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Santiago Luaces</dc:creator>
  <cp:lastModifiedBy>Luke Roides</cp:lastModifiedBy>
  <cp:revision>5</cp:revision>
  <cp:lastPrinted>2026-04-13T12:12:57Z</cp:lastPrinted>
  <dcterms:created xsi:type="dcterms:W3CDTF">2020-03-17T19:59:44Z</dcterms:created>
  <dcterms:modified xsi:type="dcterms:W3CDTF">2026-04-23T17:52:12Z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0x0101000380E90EC7256F4AB61A6A681C571661</vt:lpwstr>
  </property>
  <property fmtid="{D5CDD505-2E9C-101B-9397-08002B2CF9AE}" pid="3" name="MediaServiceImageTags">
    <vt:lpwstr/>
  </property>
</Properties>
</file>